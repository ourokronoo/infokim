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1e3a583a-961c-2e2e-e048-0f76f180bd53}">
          <p14:sldIdLst>
            <p14:sldId id="256"/>
            <p14:sldId id="257"/>
            <p14:sldId id="258"/>
            <p14:sldId id="259"/>
          </p14:sldIdLst>
        </p14:section>
        <p14:section name="System" id="{d88337b1-531f-2dc9-70a8-a783fdd46efc}">
          <p14:sldIdLst>
            <p14:sldId id="260"/>
            <p14:sldId id="261"/>
          </p14:sldIdLst>
        </p14:section>
        <p14:section name="Criteria" id="{bebca7cc-ee2f-f182-2485-65f5e4c68b86}">
          <p14:sldIdLst>
            <p14:sldId id="262"/>
            <p14:sldId id="263"/>
            <p14:sldId id="264"/>
            <p14:sldId id="265"/>
            <p14:sldId id="266"/>
            <p14:sldId id="267"/>
          </p14:sldIdLst>
        </p14:section>
        <p14:section name="Wrap-up" id="{f13af66e-c1fb-428e-bdf5-825cbe1aa61a}">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2F2F2"/>
                </a:solidFill>
                <a:latin typeface="+mn-lt"/>
              </a:defRPr>
            </a:pPr>
            <a:r>
              <a:rPr sz="1300" b="0" i="0" u="none" strike="noStrike">
                <a:solidFill>
                  <a:srgbClr val="F2F2F2"/>
                </a:solidFill>
                <a:latin typeface="+mn-lt"/>
              </a:rPr>
              <a:t>Report query time on the Expenses page (ms)</a:t>
            </a:r>
          </a:p>
        </c:rich>
      </c:tx>
      <c:layout/>
      <c:overlay val="0"/>
    </c:title>
    <c:autoTitleDeleted val="0"/>
    <c:plotArea>
      <c:layout/>
      <c:barChart>
        <c:barDir val="col"/>
        <c:grouping val="clustered"/>
        <c:varyColors val="0"/>
        <c:ser>
          <c:idx val="0"/>
          <c:order val="0"/>
          <c:tx>
            <c:strRef>
              <c:f>Sheet1!$B$1</c:f>
              <c:strCache>
                <c:ptCount val="1"/>
                <c:pt idx="0">
                  <c:v>Query time (ms)</c:v>
                </c:pt>
              </c:strCache>
            </c:strRef>
          </c:tx>
          <c:spPr>
            <a:solidFill>
              <a:srgbClr val="8C8C8C"/>
            </a:solidFill>
            <a:effectLst/>
          </c:spPr>
          <c:invertIfNegative val="0"/>
          <c:dLbls>
            <c:numFmt formatCode="0&quot; ms&quot;" sourceLinked="0"/>
            <c:txPr>
              <a:bodyPr/>
              <a:lstStyle/>
              <a:p>
                <a:pPr>
                  <a:defRPr b="1" i="0" strike="noStrike" sz="1600" u="none">
                    <a:solidFill>
                      <a:srgbClr val="F2F2F2"/>
                    </a:solidFill>
                    <a:latin typeface="+mn-lt"/>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FF8FCD"/>
              </a:solidFill>
              <a:effectLst/>
            </c:spPr>
          </c:dPt>
          <c:cat>
            <c:multiLvlStrRef>
              <c:f>Sheet1!$A$2:$A$3</c:f>
              <c:multiLvlStrCache>
                <c:ptCount val="2"/>
                <c:lvl>
                  <c:pt idx="0">
                    <c:v>No index</c:v>
                  </c:pt>
                  <c:pt idx="1">
                    <c:v>Covering index</c:v>
                  </c:pt>
                </c:lvl>
              </c:multiLvlStrCache>
            </c:multiLvlStrRef>
          </c:cat>
          <c:val>
            <c:numRef>
              <c:f>Sheet1!$B$2:$B$3</c:f>
              <c:numCache>
                <c:formatCode>General</c:formatCode>
                <c:ptCount val="2"/>
                <c:pt idx="0">
                  <c:v>75</c:v>
                </c:pt>
                <c:pt idx="1">
                  <c:v>7</c:v>
                </c:pt>
              </c:numCache>
            </c:numRef>
          </c:val>
        </c:ser>
        <c:dLbls>
          <c:numFmt formatCode="0&quot; ms&quot;" sourceLinked="0"/>
          <c:txPr>
            <a:bodyPr/>
            <a:lstStyle/>
            <a:p>
              <a:pPr>
                <a:defRPr b="1" i="0" strike="noStrike" sz="1600" u="none">
                  <a:solidFill>
                    <a:srgbClr val="F2F2F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2F2F2"/>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FBFB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company and the problem. Rivera-Sarvida Construction Inc. bought materials with QuickBooks plus paper. This system follows one material request from the site engineer all the way to stock in the warehouse. The five stages on the right are the business process, and they come back through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evaluation form. The deck follows it: context first, then the system and how it is built, then one slide group per criterion with the live demonstration, and a summary. Total 100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a construction company that bought materials with QuickBooks and paper. Objectives: one traceable pipeline, no double approvals or double payments, protected supplier and payment data, and each role limited to its job. There are seven roles, including a read-only Administrator who oversees every action. The five stages at the bottom are the business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requirements drive the design: relational integrity, all-or-nothing multi-table changes, encrypted sensitive columns, privileges per role, and a fast report over a large ledger. Twelve tables in third normal form. Parent and child pairs such as tickets and ticket_items, purchase_orders and po_items show the normalization: no repeating item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browser is the front end, a Node.js server is the back end, MySQL is the database. Nothing in the browser touches the database directly: every click goes through the server. The key idea is in db.js: one connection pool per MySQL user, so every query runs as the role of the person who is signed in, and MySQL itself enforces the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example whenever someone asks how it works. The Boss clicks Approve. The browser sends a PATCH request with the login token. Express checks the token, sees that the role is boss and picks the rsci_boss connection pool. The route runs one transaction: the status update, then an activity log row, then COMMIT. MySQL checks that rsci_boss is allowed to update that column, and the answer goes back as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request through the whole process with these roles, live. Engineer files a ticket and sees the stock labels. Boss rejects it with a reason, the Engineer edits and resubmits, the Boss approves. The PO Officer creates a purchase order with a unique number, the Boss or OM approves it, the Accountant confirms the purchase with a check number, Inventory receives it into stock. Finish as the Administrator: every step is in the Activity Log with who and when, and nothing can be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a group of SQL statements that must succeed or fail together: ACID. Paying a purchase order changes three tables: it records the payment, posts an expense and marks the purchase order as purchased. If the second step fails and the first stays, the books are wrong, so all three run inside one transaction. Atomicity is the rollback demo. Consistency is the rules the database enforces. Isolation comes from the guarded update that takes a row lock. Durability: committed data survives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web: tick Simulate failure before COMMIT, then create a purchase order, confirm a purchase or stock out. Every statement runs, then the server throws just before COMMIT. The toast says ROLLED BACK, nothing was saved, and a refresh proves it. In MySQL, run sql/03_transactions_demo.sql with mysql --force, because section B ends in an intentional duplicate-key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kinds of sensitive data: passwords, supplier tax IDs and payment check numbers. Passwords are hashed with bcrypt, which is one-way, so nobody can read them back. Tax IDs and check numbers must be readable by the right people, so they use AES encryption with a key. The key is not in the database. It lives in the server env file, so a copy of the database alone is useless. In the web, compare the Vendors page as Boss and as Inventory. In MySQL, run sql/06_encryption_demo.sql. Honest limit: AES_ENCRYPT defaults to ECB mode, which is fine for a prototype; production would use a stronger mode with an IV or transparent data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systems check permissions only in the application. We also check in the database. Every role has its own MySQL user and the server connects as that user, so even if the application had a bug MySQL would still refuse. That is the principle of least privilege. Demonstrate in the terminal as rsci_engineer: reading vendor id, name and contact works, reading tin_enc is denied, reading payments is denied, reading password_hash is denied, deleting a ticket is denied. Then the REVOKE demo with the OM: SHOW GRANTS, REVOKE SELECT on activity_log, refresh the OM Activity Log, see the denied error, GRANT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Expenses report adds up spending per project for a date range. The ledger has 100,000 rows. Without an index MySQL reads every row; EXPLAIN shows about 100,000 rows examined. One composite covering index, with the range column first and then the columns the query groups and sums, answers the query from the index alone: EXPLAIN shows type range, about 5,000 rows and Using index. On this machine the report went from about 75 milliseconds to about 7 on the Expenses page. A function on the column, YEAR and MONTH, is not sargable and defeats the index; rewriting it as a range on the bare column fixes that. Techniques used: indexing, EXPLAIN and query rewriting. Timings depend on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shows the effects and the SQL files show the mechanism. Use both for each criterion. For example: sign in as different roles to see the sidebar role and MySQL user change; tick the failure toggle to see a rollback; compare the Vendors page as Boss and Inventory for encryption; create or drop the index and rerun the Expenses report to see the query time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one pipeline, seven roles, twelve tables. Transactions keep every multi-step change all-or-nothing. Sensitive data is encrypted with a key kept outside the database. Each role connects as its own MySQL user with only the rights it needs. One index turned a full scan of 100,000 rows into a small range scan. Honest limits to state before being asked: developed and tested on MariaDB 10.4, not yet on MySQL 8; the demo accounts and per-role MySQL users share demo passwords; the 100,000 expense rows are generated test data; timings depend on the machine. Likely questions: why bcrypt for passwords but AES for TINs; why a covering index and in that column order; why a stored procedure for editing a rejected ticket; what isolation level (InnoDB default, REPEATABLE READ); what the administrator can do (read-only, SELECT grants, no secret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rtlCol="0"/>
          <a:lstStyle>
            <a:lvl1pPr algn="r" indent="0" marL="0">
              <a:buNone/>
              <a:defRPr lang="en-US" sz="1200" dirty="0">
                <a:solidFill>
                  <a:schemeClr val="tx2"/>
                </a:solidFill>
              </a:defRPr>
            </a:lvl1pPr>
          </a:lstStyle>
          <a:p>
            <a:pPr algn="r" indent="0" marL="0">
              <a:buNone/>
            </a:pPr>
            <a:endParaRPr lang="en-US" sz="1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RSCI Operations System  ·  IT EL 5</a:t>
            </a:r>
            <a:endParaRPr lang="en-US" sz="10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chool"/>
          <p:cNvSpPr txBox="1"/>
          <p:nvPr/>
        </p:nvSpPr>
        <p:spPr>
          <a:xfrm>
            <a:off x="548640" y="457200"/>
            <a:ext cx="7315200" cy="822960"/>
          </a:xfrm>
          <a:prstGeom prst="rect">
            <a:avLst/>
          </a:prstGeom>
          <a:noFill/>
          <a:ln/>
        </p:spPr>
        <p:txBody>
          <a:bodyPr wrap="square" lIns="0" tIns="0" rIns="0" bIns="0" rtlCol="0" anchor="t"/>
          <a:lstStyle/>
          <a:p>
            <a:pPr indent="0" marL="0">
              <a:buNone/>
            </a:pPr>
            <a:r>
              <a:rPr lang="en-US" sz="1200" dirty="0">
                <a:solidFill>
                  <a:schemeClr val="tx2"/>
                </a:solidFill>
              </a:rPr>
              <a:t>Pamantasan ng Lungsod ng Valenzuela</a:t>
            </a:r>
            <a:endParaRPr lang="en-US" sz="1200" dirty="0"/>
          </a:p>
          <a:p>
            <a:pPr indent="0" marL="0">
              <a:buNone/>
            </a:pPr>
            <a:r>
              <a:rPr lang="en-US" sz="1200" dirty="0">
                <a:solidFill>
                  <a:schemeClr val="tx2"/>
                </a:solidFill>
              </a:rPr>
              <a:t>College of Engineering and Information Technology</a:t>
            </a:r>
            <a:endParaRPr lang="en-US" sz="1200" dirty="0"/>
          </a:p>
          <a:p>
            <a:pPr indent="0" marL="0">
              <a:buNone/>
            </a:pPr>
            <a:r>
              <a:rPr lang="en-US" sz="1200" dirty="0">
                <a:solidFill>
                  <a:schemeClr val="tx2"/>
                </a:solidFill>
              </a:rPr>
              <a:t>Information Technology Department</a:t>
            </a:r>
            <a:endParaRPr lang="en-US" sz="1200" dirty="0"/>
          </a:p>
        </p:txBody>
      </p:sp>
      <p:sp>
        <p:nvSpPr>
          <p:cNvPr id="3" name="deck-title"/>
          <p:cNvSpPr txBox="1"/>
          <p:nvPr/>
        </p:nvSpPr>
        <p:spPr>
          <a:xfrm>
            <a:off x="548640" y="1920240"/>
            <a:ext cx="6949440" cy="914400"/>
          </a:xfrm>
          <a:prstGeom prst="rect">
            <a:avLst/>
          </a:prstGeom>
          <a:noFill/>
          <a:ln/>
        </p:spPr>
        <p:txBody>
          <a:bodyPr wrap="square" lIns="0" tIns="0" rIns="0" bIns="0" rtlCol="0" anchor="t"/>
          <a:lstStyle/>
          <a:p>
            <a:pPr indent="0" marL="0">
              <a:buNone/>
            </a:pPr>
            <a:r>
              <a:rPr lang="en-US" sz="4400" b="1" dirty="0">
                <a:solidFill>
                  <a:schemeClr val="tx1"/>
                </a:solidFill>
              </a:rPr>
              <a:t>RSCI Operations System</a:t>
            </a:r>
            <a:endParaRPr lang="en-US" sz="4400" dirty="0"/>
          </a:p>
        </p:txBody>
      </p:sp>
      <p:sp>
        <p:nvSpPr>
          <p:cNvPr id="4" name="deck-subtitle"/>
          <p:cNvSpPr txBox="1"/>
          <p:nvPr/>
        </p:nvSpPr>
        <p:spPr>
          <a:xfrm>
            <a:off x="548640" y="3017520"/>
            <a:ext cx="6400800" cy="1097280"/>
          </a:xfrm>
          <a:prstGeom prst="rect">
            <a:avLst/>
          </a:prstGeom>
          <a:noFill/>
          <a:ln/>
        </p:spPr>
        <p:txBody>
          <a:bodyPr wrap="square" lIns="0" tIns="0" rIns="0" bIns="0" rtlCol="0" anchor="t"/>
          <a:lstStyle/>
          <a:p>
            <a:pPr indent="0" marL="0">
              <a:buNone/>
            </a:pPr>
            <a:r>
              <a:rPr lang="en-US" sz="1800" dirty="0">
                <a:solidFill>
                  <a:schemeClr val="tx2"/>
                </a:solidFill>
              </a:rPr>
              <a:t>Procurement ticketing on MySQL, from material request to stock, with transactions, encryption and role-based privileges.</a:t>
            </a:r>
            <a:endParaRPr lang="en-US" sz="1800" dirty="0"/>
          </a:p>
        </p:txBody>
      </p:sp>
      <p:sp>
        <p:nvSpPr>
          <p:cNvPr id="5" name="title-rule"/>
          <p:cNvSpPr/>
          <p:nvPr/>
        </p:nvSpPr>
        <p:spPr>
          <a:xfrm>
            <a:off x="548640" y="4526280"/>
            <a:ext cx="6400800" cy="0"/>
          </a:xfrm>
          <a:prstGeom prst="line">
            <a:avLst/>
          </a:prstGeom>
          <a:noFill/>
          <a:ln w="9525">
            <a:solidFill>
              <a:schemeClr val="tx1"/>
            </a:solidFill>
            <a:prstDash val="solid"/>
          </a:ln>
        </p:spPr>
      </p:sp>
      <p:sp>
        <p:nvSpPr>
          <p:cNvPr id="6" name="course"/>
          <p:cNvSpPr txBox="1"/>
          <p:nvPr/>
        </p:nvSpPr>
        <p:spPr>
          <a:xfrm>
            <a:off x="548640" y="4663440"/>
            <a:ext cx="6400800" cy="320040"/>
          </a:xfrm>
          <a:prstGeom prst="rect">
            <a:avLst/>
          </a:prstGeom>
          <a:noFill/>
          <a:ln/>
        </p:spPr>
        <p:txBody>
          <a:bodyPr wrap="square" lIns="0" tIns="0" rIns="0" bIns="0" rtlCol="0" anchor="t"/>
          <a:lstStyle/>
          <a:p>
            <a:pPr indent="0" marL="0">
              <a:buNone/>
            </a:pPr>
            <a:r>
              <a:rPr lang="en-US" sz="1400" b="1" dirty="0">
                <a:solidFill>
                  <a:schemeClr val="tx1"/>
                </a:solidFill>
              </a:rPr>
              <a:t>IT EL 5, Advanced Information Management</a:t>
            </a:r>
            <a:endParaRPr lang="en-US" sz="1400" dirty="0"/>
          </a:p>
        </p:txBody>
      </p:sp>
      <p:sp>
        <p:nvSpPr>
          <p:cNvPr id="7" name="members-placeholder"/>
          <p:cNvSpPr txBox="1"/>
          <p:nvPr/>
        </p:nvSpPr>
        <p:spPr>
          <a:xfrm>
            <a:off x="548640" y="5029200"/>
            <a:ext cx="6766560" cy="320040"/>
          </a:xfrm>
          <a:prstGeom prst="rect">
            <a:avLst/>
          </a:prstGeom>
          <a:noFill/>
          <a:ln/>
        </p:spPr>
        <p:txBody>
          <a:bodyPr wrap="square" lIns="0" tIns="0" rIns="0" bIns="0" rtlCol="0" anchor="t"/>
          <a:lstStyle/>
          <a:p>
            <a:pPr indent="0" marL="0">
              <a:buNone/>
            </a:pPr>
            <a:r>
              <a:rPr lang="en-US" sz="1200" dirty="0">
                <a:solidFill>
                  <a:schemeClr val="tx2"/>
                </a:solidFill>
              </a:rPr>
              <a:t>Group [no.]     Members: [add names, alphabetical, Surname, First Name MI]</a:t>
            </a:r>
            <a:endParaRPr lang="en-US" sz="1200" dirty="0"/>
          </a:p>
        </p:txBody>
      </p:sp>
      <p:sp>
        <p:nvSpPr>
          <p:cNvPr id="8" name="logo-tile"/>
          <p:cNvSpPr/>
          <p:nvPr/>
        </p:nvSpPr>
        <p:spPr>
          <a:xfrm>
            <a:off x="9692640" y="457200"/>
            <a:ext cx="1371600" cy="1371600"/>
          </a:xfrm>
          <a:prstGeom prst="roundRect">
            <a:avLst>
              <a:gd name="adj" fmla="val 5333"/>
            </a:avLst>
          </a:prstGeom>
          <a:solidFill>
            <a:srgbClr val="FFFFFF"/>
          </a:solidFill>
          <a:ln w="12700">
            <a:solidFill>
              <a:srgbClr val="FFFFFF"/>
            </a:solidFill>
            <a:prstDash val="solid"/>
          </a:ln>
        </p:spPr>
      </p:sp>
      <p:pic>
        <p:nvPicPr>
          <p:cNvPr id="9" name="logo" descr="Rivera-Sarvida Construction Inc. logo">    </p:cNvPr>
          <p:cNvPicPr>
            <a:picLocks noChangeAspect="1"/>
          </p:cNvPicPr>
          <p:nvPr/>
        </p:nvPicPr>
        <p:blipFill>
          <a:blip r:embed="rId1"/>
          <a:srcRect l="0" r="0" t="0" b="0"/>
          <a:stretch/>
        </p:blipFill>
        <p:spPr>
          <a:xfrm>
            <a:off x="9765792" y="530352"/>
            <a:ext cx="1225296" cy="1225296"/>
          </a:xfrm>
          <a:prstGeom prst="rect">
            <a:avLst/>
          </a:prstGeom>
        </p:spPr>
      </p:pic>
      <p:sp>
        <p:nvSpPr>
          <p:cNvPr id="10" name="rail-rule"/>
          <p:cNvSpPr/>
          <p:nvPr/>
        </p:nvSpPr>
        <p:spPr>
          <a:xfrm>
            <a:off x="8229600" y="2331720"/>
            <a:ext cx="3410712" cy="0"/>
          </a:xfrm>
          <a:prstGeom prst="line">
            <a:avLst/>
          </a:prstGeom>
          <a:noFill/>
          <a:ln w="9525">
            <a:solidFill>
              <a:schemeClr val="tx1"/>
            </a:solidFill>
            <a:prstDash val="solid"/>
          </a:ln>
        </p:spPr>
      </p:sp>
      <p:sp>
        <p:nvSpPr>
          <p:cNvPr id="11" name="rail-no"/>
          <p:cNvSpPr txBox="1"/>
          <p:nvPr/>
        </p:nvSpPr>
        <p:spPr>
          <a:xfrm>
            <a:off x="8229600" y="2514600"/>
            <a:ext cx="457200" cy="32004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12" name="rail-label"/>
          <p:cNvSpPr txBox="1"/>
          <p:nvPr/>
        </p:nvSpPr>
        <p:spPr>
          <a:xfrm>
            <a:off x="8778240" y="2487168"/>
            <a:ext cx="2834640" cy="365760"/>
          </a:xfrm>
          <a:prstGeom prst="rect">
            <a:avLst/>
          </a:prstGeom>
          <a:noFill/>
          <a:ln/>
        </p:spPr>
        <p:txBody>
          <a:bodyPr wrap="square" lIns="0" tIns="0" rIns="0" bIns="0" rtlCol="0" anchor="t"/>
          <a:lstStyle/>
          <a:p>
            <a:pPr indent="0" marL="0">
              <a:buNone/>
            </a:pPr>
            <a:r>
              <a:rPr lang="en-US" sz="1800" b="1" dirty="0">
                <a:solidFill>
                  <a:schemeClr val="tx1"/>
                </a:solidFill>
              </a:rPr>
              <a:t>Request</a:t>
            </a:r>
            <a:endParaRPr lang="en-US" sz="1800" dirty="0"/>
          </a:p>
        </p:txBody>
      </p:sp>
      <p:sp>
        <p:nvSpPr>
          <p:cNvPr id="13" name="rail-rule"/>
          <p:cNvSpPr/>
          <p:nvPr/>
        </p:nvSpPr>
        <p:spPr>
          <a:xfrm>
            <a:off x="8229600" y="3044952"/>
            <a:ext cx="3410712" cy="0"/>
          </a:xfrm>
          <a:prstGeom prst="line">
            <a:avLst/>
          </a:prstGeom>
          <a:noFill/>
          <a:ln w="9525">
            <a:solidFill>
              <a:schemeClr val="tx1"/>
            </a:solidFill>
            <a:prstDash val="solid"/>
          </a:ln>
        </p:spPr>
      </p:sp>
      <p:sp>
        <p:nvSpPr>
          <p:cNvPr id="14" name="rail-no"/>
          <p:cNvSpPr txBox="1"/>
          <p:nvPr/>
        </p:nvSpPr>
        <p:spPr>
          <a:xfrm>
            <a:off x="8229600" y="3227832"/>
            <a:ext cx="457200" cy="32004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5" name="rail-label"/>
          <p:cNvSpPr txBox="1"/>
          <p:nvPr/>
        </p:nvSpPr>
        <p:spPr>
          <a:xfrm>
            <a:off x="8778240" y="3200400"/>
            <a:ext cx="2834640" cy="365760"/>
          </a:xfrm>
          <a:prstGeom prst="rect">
            <a:avLst/>
          </a:prstGeom>
          <a:noFill/>
          <a:ln/>
        </p:spPr>
        <p:txBody>
          <a:bodyPr wrap="square" lIns="0" tIns="0" rIns="0" bIns="0" rtlCol="0" anchor="t"/>
          <a:lstStyle/>
          <a:p>
            <a:pPr indent="0" marL="0">
              <a:buNone/>
            </a:pPr>
            <a:r>
              <a:rPr lang="en-US" sz="1800" b="1" dirty="0">
                <a:solidFill>
                  <a:schemeClr val="tx1"/>
                </a:solidFill>
              </a:rPr>
              <a:t>Boss approval</a:t>
            </a:r>
            <a:endParaRPr lang="en-US" sz="1800" dirty="0"/>
          </a:p>
        </p:txBody>
      </p:sp>
      <p:sp>
        <p:nvSpPr>
          <p:cNvPr id="16" name="rail-rule"/>
          <p:cNvSpPr/>
          <p:nvPr/>
        </p:nvSpPr>
        <p:spPr>
          <a:xfrm>
            <a:off x="8229600" y="3758184"/>
            <a:ext cx="3410712" cy="0"/>
          </a:xfrm>
          <a:prstGeom prst="line">
            <a:avLst/>
          </a:prstGeom>
          <a:noFill/>
          <a:ln w="9525">
            <a:solidFill>
              <a:schemeClr val="tx1"/>
            </a:solidFill>
            <a:prstDash val="solid"/>
          </a:ln>
        </p:spPr>
      </p:sp>
      <p:sp>
        <p:nvSpPr>
          <p:cNvPr id="17" name="rail-no"/>
          <p:cNvSpPr txBox="1"/>
          <p:nvPr/>
        </p:nvSpPr>
        <p:spPr>
          <a:xfrm>
            <a:off x="8229600" y="3941064"/>
            <a:ext cx="457200" cy="320040"/>
          </a:xfrm>
          <a:prstGeom prst="rect">
            <a:avLst/>
          </a:prstGeom>
          <a:noFill/>
          <a:ln/>
        </p:spPr>
        <p:txBody>
          <a:bodyPr wrap="square" lIns="0" tIns="0" rIns="0" bIns="0" rtlCol="0" anchor="t"/>
          <a:lstStyle/>
          <a:p>
            <a:pPr indent="0" marL="0">
              <a:buNone/>
            </a:pPr>
            <a:r>
              <a:rPr lang="en-US" sz="1300" b="1" dirty="0">
                <a:solidFill>
                  <a:schemeClr val="accent1"/>
                </a:solidFill>
              </a:rPr>
              <a:t>03</a:t>
            </a:r>
            <a:endParaRPr lang="en-US" sz="1300" dirty="0"/>
          </a:p>
        </p:txBody>
      </p:sp>
      <p:sp>
        <p:nvSpPr>
          <p:cNvPr id="18" name="rail-label"/>
          <p:cNvSpPr txBox="1"/>
          <p:nvPr/>
        </p:nvSpPr>
        <p:spPr>
          <a:xfrm>
            <a:off x="8778240" y="3913632"/>
            <a:ext cx="2834640" cy="365760"/>
          </a:xfrm>
          <a:prstGeom prst="rect">
            <a:avLst/>
          </a:prstGeom>
          <a:noFill/>
          <a:ln/>
        </p:spPr>
        <p:txBody>
          <a:bodyPr wrap="square" lIns="0" tIns="0" rIns="0" bIns="0" rtlCol="0" anchor="t"/>
          <a:lstStyle/>
          <a:p>
            <a:pPr indent="0" marL="0">
              <a:buNone/>
            </a:pPr>
            <a:r>
              <a:rPr lang="en-US" sz="1800" b="1" dirty="0">
                <a:solidFill>
                  <a:schemeClr val="tx1"/>
                </a:solidFill>
              </a:rPr>
              <a:t>Purchase order</a:t>
            </a:r>
            <a:endParaRPr lang="en-US" sz="1800" dirty="0"/>
          </a:p>
        </p:txBody>
      </p:sp>
      <p:sp>
        <p:nvSpPr>
          <p:cNvPr id="19" name="rail-rule"/>
          <p:cNvSpPr/>
          <p:nvPr/>
        </p:nvSpPr>
        <p:spPr>
          <a:xfrm>
            <a:off x="8229600" y="4471416"/>
            <a:ext cx="3410712" cy="0"/>
          </a:xfrm>
          <a:prstGeom prst="line">
            <a:avLst/>
          </a:prstGeom>
          <a:noFill/>
          <a:ln w="9525">
            <a:solidFill>
              <a:schemeClr val="tx1"/>
            </a:solidFill>
            <a:prstDash val="solid"/>
          </a:ln>
        </p:spPr>
      </p:sp>
      <p:sp>
        <p:nvSpPr>
          <p:cNvPr id="20" name="rail-no"/>
          <p:cNvSpPr txBox="1"/>
          <p:nvPr/>
        </p:nvSpPr>
        <p:spPr>
          <a:xfrm>
            <a:off x="8229600" y="4654296"/>
            <a:ext cx="457200" cy="320040"/>
          </a:xfrm>
          <a:prstGeom prst="rect">
            <a:avLst/>
          </a:prstGeom>
          <a:noFill/>
          <a:ln/>
        </p:spPr>
        <p:txBody>
          <a:bodyPr wrap="square" lIns="0" tIns="0" rIns="0" bIns="0" rtlCol="0" anchor="t"/>
          <a:lstStyle/>
          <a:p>
            <a:pPr indent="0" marL="0">
              <a:buNone/>
            </a:pPr>
            <a:r>
              <a:rPr lang="en-US" sz="1300" b="1" dirty="0">
                <a:solidFill>
                  <a:schemeClr val="accent1"/>
                </a:solidFill>
              </a:rPr>
              <a:t>04</a:t>
            </a:r>
            <a:endParaRPr lang="en-US" sz="1300" dirty="0"/>
          </a:p>
        </p:txBody>
      </p:sp>
      <p:sp>
        <p:nvSpPr>
          <p:cNvPr id="21" name="rail-label"/>
          <p:cNvSpPr txBox="1"/>
          <p:nvPr/>
        </p:nvSpPr>
        <p:spPr>
          <a:xfrm>
            <a:off x="8778240" y="4626864"/>
            <a:ext cx="2834640" cy="365760"/>
          </a:xfrm>
          <a:prstGeom prst="rect">
            <a:avLst/>
          </a:prstGeom>
          <a:noFill/>
          <a:ln/>
        </p:spPr>
        <p:txBody>
          <a:bodyPr wrap="square" lIns="0" tIns="0" rIns="0" bIns="0" rtlCol="0" anchor="t"/>
          <a:lstStyle/>
          <a:p>
            <a:pPr indent="0" marL="0">
              <a:buNone/>
            </a:pPr>
            <a:r>
              <a:rPr lang="en-US" sz="1800" b="1" dirty="0">
                <a:solidFill>
                  <a:schemeClr val="tx1"/>
                </a:solidFill>
              </a:rPr>
              <a:t>Payment</a:t>
            </a:r>
            <a:endParaRPr lang="en-US" sz="1800" dirty="0"/>
          </a:p>
        </p:txBody>
      </p:sp>
      <p:sp>
        <p:nvSpPr>
          <p:cNvPr id="22" name="rail-rule"/>
          <p:cNvSpPr/>
          <p:nvPr/>
        </p:nvSpPr>
        <p:spPr>
          <a:xfrm>
            <a:off x="8229600" y="5184648"/>
            <a:ext cx="3410712" cy="0"/>
          </a:xfrm>
          <a:prstGeom prst="line">
            <a:avLst/>
          </a:prstGeom>
          <a:noFill/>
          <a:ln w="9525">
            <a:solidFill>
              <a:schemeClr val="tx1"/>
            </a:solidFill>
            <a:prstDash val="solid"/>
          </a:ln>
        </p:spPr>
      </p:sp>
      <p:sp>
        <p:nvSpPr>
          <p:cNvPr id="23" name="rail-no"/>
          <p:cNvSpPr txBox="1"/>
          <p:nvPr/>
        </p:nvSpPr>
        <p:spPr>
          <a:xfrm>
            <a:off x="8229600" y="5367528"/>
            <a:ext cx="457200" cy="320040"/>
          </a:xfrm>
          <a:prstGeom prst="rect">
            <a:avLst/>
          </a:prstGeom>
          <a:noFill/>
          <a:ln/>
        </p:spPr>
        <p:txBody>
          <a:bodyPr wrap="square" lIns="0" tIns="0" rIns="0" bIns="0" rtlCol="0" anchor="t"/>
          <a:lstStyle/>
          <a:p>
            <a:pPr indent="0" marL="0">
              <a:buNone/>
            </a:pPr>
            <a:r>
              <a:rPr lang="en-US" sz="1300" b="1" dirty="0">
                <a:solidFill>
                  <a:schemeClr val="accent1"/>
                </a:solidFill>
              </a:rPr>
              <a:t>05</a:t>
            </a:r>
            <a:endParaRPr lang="en-US" sz="1300" dirty="0"/>
          </a:p>
        </p:txBody>
      </p:sp>
      <p:sp>
        <p:nvSpPr>
          <p:cNvPr id="24" name="rail-label"/>
          <p:cNvSpPr txBox="1"/>
          <p:nvPr/>
        </p:nvSpPr>
        <p:spPr>
          <a:xfrm>
            <a:off x="8778240" y="5340096"/>
            <a:ext cx="2834640" cy="365760"/>
          </a:xfrm>
          <a:prstGeom prst="rect">
            <a:avLst/>
          </a:prstGeom>
          <a:noFill/>
          <a:ln/>
        </p:spPr>
        <p:txBody>
          <a:bodyPr wrap="square" lIns="0" tIns="0" rIns="0" bIns="0" rtlCol="0" anchor="t"/>
          <a:lstStyle/>
          <a:p>
            <a:pPr indent="0" marL="0">
              <a:buNone/>
            </a:pPr>
            <a:r>
              <a:rPr lang="en-US" sz="1800" b="1" dirty="0">
                <a:solidFill>
                  <a:schemeClr val="tx1"/>
                </a:solidFill>
              </a:rPr>
              <a:t>Stock</a:t>
            </a:r>
            <a:endParaRPr lang="en-US" sz="1800" dirty="0"/>
          </a:p>
        </p:txBody>
      </p:sp>
      <p:sp>
        <p:nvSpPr>
          <p:cNvPr id="25" name="rail-rule"/>
          <p:cNvSpPr/>
          <p:nvPr/>
        </p:nvSpPr>
        <p:spPr>
          <a:xfrm>
            <a:off x="8229600" y="5897880"/>
            <a:ext cx="3410712" cy="0"/>
          </a:xfrm>
          <a:prstGeom prst="line">
            <a:avLst/>
          </a:prstGeom>
          <a:noFill/>
          <a:ln w="9525">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Evaluation criteria</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IT EL 5 evaluation form</a:t>
            </a:r>
            <a:endParaRPr lang="en-US" sz="1200" dirty="0"/>
          </a:p>
        </p:txBody>
      </p:sp>
      <p:graphicFrame>
        <p:nvGraphicFramePr>
          <p:cNvPr id="3" name="rubric-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51760"/>
                <a:gridCol w="7498080"/>
                <a:gridCol w="944575"/>
              </a:tblGrid>
              <a:tr h="0">
                <a:tc>
                  <a:txBody>
                    <a:bodyPr/>
                    <a:lstStyle/>
                    <a:p>
                      <a:pPr algn="ctr" indent="0" marL="0">
                        <a:buNone/>
                      </a:pPr>
                      <a:r>
                        <a:rPr lang="en-US" sz="1250" b="1" dirty="0">
                          <a:solidFill>
                            <a:schemeClr val="tx1"/>
                          </a:solidFill>
                        </a:rPr>
                        <a:t>Criteria</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b="1" dirty="0">
                          <a:solidFill>
                            <a:schemeClr val="tx1"/>
                          </a:solidFill>
                        </a:rPr>
                        <a:t>Description</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b="1" dirty="0">
                          <a:solidFill>
                            <a:schemeClr val="tx1"/>
                          </a:solidFill>
                        </a:rPr>
                        <a:t>Points</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1. Project Context</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Clearly presents the project/system's background, objectives, users, business processes, and database requirements.</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10</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2. Transaction Management</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Applies transaction management using appropriate concepts such as </a:t>
                      </a:r>
                      <a:pPr indent="0" marL="0">
                        <a:buNone/>
                      </a:pPr>
                      <a:r>
                        <a:rPr lang="en-US" sz="1250" b="1" dirty="0">
                          <a:solidFill>
                            <a:schemeClr val="tx1"/>
                          </a:solidFill>
                        </a:rPr>
                        <a:t>ACID properties, COMMIT, ROLLBACK,</a:t>
                      </a:r>
                      <a:pPr indent="0" marL="0">
                        <a:buNone/>
                      </a:pPr>
                      <a:r>
                        <a:rPr lang="en-US" sz="1250" dirty="0">
                          <a:solidFill>
                            <a:schemeClr val="tx1"/>
                          </a:solidFill>
                        </a:rPr>
                        <a:t> and appropriate </a:t>
                      </a:r>
                      <a:pPr indent="0" marL="0">
                        <a:buNone/>
                      </a:pPr>
                      <a:r>
                        <a:rPr lang="en-US" sz="1250" b="1" dirty="0">
                          <a:solidFill>
                            <a:schemeClr val="tx1"/>
                          </a:solidFill>
                        </a:rPr>
                        <a:t>handling of transaction consistency and errors.</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3. Database Encryption</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Identifies sensitive information and implements an </a:t>
                      </a:r>
                      <a:pPr indent="0" marL="0">
                        <a:buNone/>
                      </a:pPr>
                      <a:r>
                        <a:rPr lang="en-US" sz="1250" b="1" dirty="0">
                          <a:solidFill>
                            <a:schemeClr val="tx1"/>
                          </a:solidFill>
                        </a:rPr>
                        <a:t>appropriate database encryption technique.</a:t>
                      </a:r>
                      <a:pPr indent="0" marL="0">
                        <a:buNone/>
                      </a:pPr>
                      <a:r>
                        <a:rPr lang="en-US" sz="1250" dirty="0">
                          <a:solidFill>
                            <a:schemeClr val="tx1"/>
                          </a:solidFill>
                        </a:rPr>
                        <a:t> Demonstrates encryption/decryption and explains how encryption protects sensitive data.</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4. Database Authorization and Privileges</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Implements appropriate </a:t>
                      </a:r>
                      <a:pPr indent="0" marL="0">
                        <a:buNone/>
                      </a:pPr>
                      <a:r>
                        <a:rPr lang="en-US" sz="1250" b="1" dirty="0">
                          <a:solidFill>
                            <a:schemeClr val="tx1"/>
                          </a:solidFill>
                        </a:rPr>
                        <a:t>users, roles, GRANT, REVOKE, and privileges</a:t>
                      </a:r>
                      <a:pPr indent="0" marL="0">
                        <a:buNone/>
                      </a:pPr>
                      <a:r>
                        <a:rPr lang="en-US" sz="1250" dirty="0">
                          <a:solidFill>
                            <a:schemeClr val="tx1"/>
                          </a:solidFill>
                        </a:rPr>
                        <a:t> based on user responsibilities. Applies the principle of least privilege and demonstrates appropriate access control.</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5. Query Optimization</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Applies appropriate optimization techniques such as </a:t>
                      </a:r>
                      <a:pPr indent="0" marL="0">
                        <a:buNone/>
                      </a:pPr>
                      <a:r>
                        <a:rPr lang="en-US" sz="1250" b="1" dirty="0">
                          <a:solidFill>
                            <a:schemeClr val="tx1"/>
                          </a:solidFill>
                        </a:rPr>
                        <a:t>indexing, EXPLAIN/EXPLAIN ANALYZE, query rewriting, efficient joins, or partitioning.</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6. Integration and Technical Implementation</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Effectively integrates the database design and the required database concepts into one functional and coherent IT solution. SQL statements and database implementation are technically correct.</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indent="0" marL="0">
                        <a:buNone/>
                      </a:pPr>
                      <a:r>
                        <a:rPr lang="en-US" sz="1250" b="1" dirty="0">
                          <a:solidFill>
                            <a:schemeClr val="tx1"/>
                          </a:solidFill>
                        </a:rPr>
                        <a:t>7. Presentation</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r>
                        <a:rPr lang="en-US" sz="1250" dirty="0">
                          <a:solidFill>
                            <a:schemeClr val="tx1"/>
                          </a:solidFill>
                        </a:rPr>
                        <a:t>Presents the case study clearly and logically. Explains the database design, transaction management, database encryption, authorization and privileges, and the selected query optimization technique. Demonstrates the application of the selected technique</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dirty="0">
                          <a:solidFill>
                            <a:schemeClr val="tx1"/>
                          </a:solidFill>
                        </a:rPr>
                        <a:t>15</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0">
                <a:tc>
                  <a:txBody>
                    <a:bodyPr/>
                    <a:lstStyle/>
                    <a:p>
                      <a:pPr algn="ctr" indent="0" marL="0">
                        <a:buNone/>
                      </a:pPr>
                      <a:r>
                        <a:rPr lang="en-US" sz="1250" b="1" dirty="0">
                          <a:solidFill>
                            <a:schemeClr val="tx1"/>
                          </a:solidFill>
                        </a:rPr>
                        <a:t>TOTAL</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indent="0" marL="0">
                        <a:buNone/>
                      </a:pPr>
                      <a:endParaRPr lang="en-US" sz="1250" dirty="0"/>
                    </a:p>
                  </a:txBody>
                  <a:tcPr marL="101600" marR="101600" marT="50800" marB="5080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ctr" indent="0" marL="0">
                        <a:buNone/>
                      </a:pPr>
                      <a:r>
                        <a:rPr lang="en-US" sz="1250" b="1" dirty="0">
                          <a:solidFill>
                            <a:schemeClr val="tx1"/>
                          </a:solidFill>
                        </a:rPr>
                        <a:t>100</a:t>
                      </a:r>
                      <a:endParaRPr lang="en-US" sz="1250" dirty="0"/>
                    </a:p>
                  </a:txBody>
                  <a:tcPr marL="101600" marR="101600" marT="50800" marB="508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1. Project context</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1 · 10 points</a:t>
            </a:r>
            <a:endParaRPr lang="en-US" sz="1200" dirty="0"/>
          </a:p>
        </p:txBody>
      </p:sp>
      <p:sp>
        <p:nvSpPr>
          <p:cNvPr id="5" name="bg-label"/>
          <p:cNvSpPr txBox="1"/>
          <p:nvPr/>
        </p:nvSpPr>
        <p:spPr>
          <a:xfrm>
            <a:off x="548640" y="1417320"/>
            <a:ext cx="4937760" cy="274320"/>
          </a:xfrm>
          <a:prstGeom prst="rect">
            <a:avLst/>
          </a:prstGeom>
          <a:noFill/>
          <a:ln/>
        </p:spPr>
        <p:txBody>
          <a:bodyPr wrap="square" lIns="0" tIns="0" rIns="0" bIns="0" rtlCol="0" anchor="t"/>
          <a:lstStyle/>
          <a:p>
            <a:pPr indent="0" marL="0">
              <a:buNone/>
            </a:pPr>
            <a:r>
              <a:rPr lang="en-US" sz="1300" b="1" dirty="0">
                <a:solidFill>
                  <a:schemeClr val="accent1"/>
                </a:solidFill>
              </a:rPr>
              <a:t>Background</a:t>
            </a:r>
            <a:endParaRPr lang="en-US" sz="1300" dirty="0"/>
          </a:p>
        </p:txBody>
      </p:sp>
      <p:sp>
        <p:nvSpPr>
          <p:cNvPr id="6" name="bg-text"/>
          <p:cNvSpPr txBox="1"/>
          <p:nvPr/>
        </p:nvSpPr>
        <p:spPr>
          <a:xfrm>
            <a:off x="548640" y="1737360"/>
            <a:ext cx="4937760" cy="1097280"/>
          </a:xfrm>
          <a:prstGeom prst="rect">
            <a:avLst/>
          </a:prstGeom>
          <a:noFill/>
          <a:ln/>
        </p:spPr>
        <p:txBody>
          <a:bodyPr wrap="square" lIns="0" tIns="0" rIns="0" bIns="0" rtlCol="0" anchor="t"/>
          <a:lstStyle/>
          <a:p>
            <a:pPr indent="0" marL="0">
              <a:buNone/>
            </a:pPr>
            <a:r>
              <a:rPr lang="en-US" sz="1400" dirty="0">
                <a:solidFill>
                  <a:schemeClr val="tx1"/>
                </a:solidFill>
              </a:rPr>
              <a:t>Rivera-Sarvida Construction Inc. bought materials with QuickBooks and paper. The system follows one request from the site engineer to stock in the warehouse.</a:t>
            </a:r>
            <a:endParaRPr lang="en-US" sz="1400" dirty="0"/>
          </a:p>
        </p:txBody>
      </p:sp>
      <p:sp>
        <p:nvSpPr>
          <p:cNvPr id="7" name="obj-label"/>
          <p:cNvSpPr txBox="1"/>
          <p:nvPr/>
        </p:nvSpPr>
        <p:spPr>
          <a:xfrm>
            <a:off x="548640" y="2926080"/>
            <a:ext cx="4937760" cy="274320"/>
          </a:xfrm>
          <a:prstGeom prst="rect">
            <a:avLst/>
          </a:prstGeom>
          <a:noFill/>
          <a:ln/>
        </p:spPr>
        <p:txBody>
          <a:bodyPr wrap="square" lIns="0" tIns="0" rIns="0" bIns="0" rtlCol="0" anchor="t"/>
          <a:lstStyle/>
          <a:p>
            <a:pPr indent="0" marL="0">
              <a:buNone/>
            </a:pPr>
            <a:r>
              <a:rPr lang="en-US" sz="1300" b="1" dirty="0">
                <a:solidFill>
                  <a:schemeClr val="accent1"/>
                </a:solidFill>
              </a:rPr>
              <a:t>Objectives</a:t>
            </a:r>
            <a:endParaRPr lang="en-US" sz="1300" dirty="0"/>
          </a:p>
        </p:txBody>
      </p:sp>
      <p:sp>
        <p:nvSpPr>
          <p:cNvPr id="8" name="obj-list"/>
          <p:cNvSpPr txBox="1"/>
          <p:nvPr/>
        </p:nvSpPr>
        <p:spPr>
          <a:xfrm>
            <a:off x="548640" y="324612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traceable pipeline</a:t>
            </a:r>
            <a:endParaRPr lang="en-US" sz="1400" dirty="0"/>
          </a:p>
          <a:p>
            <a:pPr marL="342900" indent="-342900">
              <a:spcAft>
                <a:spcPts val="600"/>
              </a:spcAft>
              <a:buSzPct val="100000"/>
              <a:buChar char="•"/>
            </a:pPr>
            <a:r>
              <a:rPr lang="en-US" sz="1400" dirty="0">
                <a:solidFill>
                  <a:schemeClr val="tx1"/>
                </a:solidFill>
              </a:rPr>
              <a:t>No double approvals or double payments</a:t>
            </a:r>
            <a:endParaRPr lang="en-US" sz="1400" dirty="0"/>
          </a:p>
          <a:p>
            <a:pPr marL="342900" indent="-342900">
              <a:spcAft>
                <a:spcPts val="600"/>
              </a:spcAft>
              <a:buSzPct val="100000"/>
              <a:buChar char="•"/>
            </a:pPr>
            <a:r>
              <a:rPr lang="en-US" sz="1400" dirty="0">
                <a:solidFill>
                  <a:schemeClr val="tx1"/>
                </a:solidFill>
              </a:rPr>
              <a:t>Supplier and payment data protected</a:t>
            </a:r>
            <a:endParaRPr lang="en-US" sz="1400" dirty="0"/>
          </a:p>
          <a:p>
            <a:pPr marL="342900" indent="-342900">
              <a:spcAft>
                <a:spcPts val="600"/>
              </a:spcAft>
              <a:buSzPct val="100000"/>
              <a:buChar char="•"/>
            </a:pPr>
            <a:r>
              <a:rPr lang="en-US" sz="1400" dirty="0">
                <a:solidFill>
                  <a:schemeClr val="tx1"/>
                </a:solidFill>
              </a:rPr>
              <a:t>Each role limited to what its job needs</a:t>
            </a:r>
            <a:endParaRPr lang="en-US" sz="1400" dirty="0"/>
          </a:p>
        </p:txBody>
      </p:sp>
      <p:graphicFrame>
        <p:nvGraphicFramePr>
          <p:cNvPr id="4" name="users-table"/>
          <p:cNvGraphicFramePr>
            <a:graphicFrameLocks noGrp="1"/>
          </p:cNvGraphicFramePr>
          <p:nvPr>
            <p:extLst>
              <p:ext uri="{D42A27DB-BD31-4B8C-83A1-F6EECF244321}">
                <p14:modId xmlns:p14="http://schemas.microsoft.com/office/powerpoint/2010/main" val="1579011935"/>
              </p:ext>
            </p:extLst>
          </p:nvPr>
        </p:nvGraphicFramePr>
        <p:xfrm>
          <a:off x="5943600" y="1417320"/>
          <a:ext cx="5699455" cy="914400"/>
        </p:xfrm>
        <a:graphic>
          <a:graphicData uri="http://schemas.openxmlformats.org/drawingml/2006/table">
            <a:tbl>
              <a:tblPr/>
              <a:tblGrid>
                <a:gridCol w="1920240"/>
                <a:gridCol w="3779215"/>
              </a:tblGrid>
              <a:tr h="420624">
                <a:tc>
                  <a:txBody>
                    <a:bodyPr/>
                    <a:lstStyle/>
                    <a:p>
                      <a:pPr algn="l" indent="0" marL="0">
                        <a:buNone/>
                      </a:pPr>
                      <a:r>
                        <a:rPr lang="en-US" sz="1300" b="1" dirty="0">
                          <a:solidFill>
                            <a:schemeClr val="tx1"/>
                          </a:solidFill>
                        </a:rPr>
                        <a:t>Role</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rPr>
                        <a:t>What they do</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420624">
                <a:tc>
                  <a:txBody>
                    <a:bodyPr/>
                    <a:lstStyle/>
                    <a:p>
                      <a:pPr algn="l" indent="0" marL="0">
                        <a:buNone/>
                      </a:pPr>
                      <a:r>
                        <a:rPr lang="en-US" sz="1300" b="1" dirty="0">
                          <a:solidFill>
                            <a:schemeClr val="tx1"/>
                          </a:solidFill>
                        </a:rPr>
                        <a:t>Engineer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Files material requests, fixes rejected ones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Boss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Approves requests and purchase orders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Operations Manager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Also approves purchase orders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PO Officer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Creates purchase orders and vendors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Accountant</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Records payment, posts to expenses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Inventory</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Receives deliveries, moves stock</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300" b="1" dirty="0">
                          <a:solidFill>
                            <a:schemeClr val="tx1"/>
                          </a:solidFill>
                        </a:rPr>
                        <a:t>Administrator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Read-only oversight of every action</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10" name="proc-label"/>
          <p:cNvSpPr txBox="1"/>
          <p:nvPr/>
        </p:nvSpPr>
        <p:spPr>
          <a:xfrm>
            <a:off x="548640" y="4892040"/>
            <a:ext cx="3657600" cy="274320"/>
          </a:xfrm>
          <a:prstGeom prst="rect">
            <a:avLst/>
          </a:prstGeom>
          <a:noFill/>
          <a:ln/>
        </p:spPr>
        <p:txBody>
          <a:bodyPr wrap="square" lIns="0" tIns="0" rIns="0" bIns="0" rtlCol="0" anchor="t"/>
          <a:lstStyle/>
          <a:p>
            <a:pPr indent="0" marL="0">
              <a:buNone/>
            </a:pPr>
            <a:r>
              <a:rPr lang="en-US" sz="1300" b="1" dirty="0">
                <a:solidFill>
                  <a:schemeClr val="accent1"/>
                </a:solidFill>
              </a:rPr>
              <a:t>Business process</a:t>
            </a:r>
            <a:endParaRPr lang="en-US" sz="1300" dirty="0"/>
          </a:p>
        </p:txBody>
      </p:sp>
      <p:sp>
        <p:nvSpPr>
          <p:cNvPr id="11" name="rail-rule"/>
          <p:cNvSpPr/>
          <p:nvPr/>
        </p:nvSpPr>
        <p:spPr>
          <a:xfrm>
            <a:off x="548640" y="5257800"/>
            <a:ext cx="2109155" cy="0"/>
          </a:xfrm>
          <a:prstGeom prst="line">
            <a:avLst/>
          </a:prstGeom>
          <a:noFill/>
          <a:ln w="9525">
            <a:solidFill>
              <a:schemeClr val="tx1"/>
            </a:solidFill>
            <a:prstDash val="solid"/>
          </a:ln>
        </p:spPr>
      </p:sp>
      <p:sp>
        <p:nvSpPr>
          <p:cNvPr id="12" name="rail-no"/>
          <p:cNvSpPr txBox="1"/>
          <p:nvPr/>
        </p:nvSpPr>
        <p:spPr>
          <a:xfrm>
            <a:off x="548640" y="536752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13" name="rail-label"/>
          <p:cNvSpPr txBox="1"/>
          <p:nvPr/>
        </p:nvSpPr>
        <p:spPr>
          <a:xfrm>
            <a:off x="548640" y="5641848"/>
            <a:ext cx="2081723" cy="457200"/>
          </a:xfrm>
          <a:prstGeom prst="rect">
            <a:avLst/>
          </a:prstGeom>
          <a:noFill/>
          <a:ln/>
        </p:spPr>
        <p:txBody>
          <a:bodyPr wrap="square" lIns="0" tIns="0" rIns="0" bIns="0" rtlCol="0" anchor="t"/>
          <a:lstStyle/>
          <a:p>
            <a:pPr indent="0" marL="0">
              <a:buNone/>
            </a:pPr>
            <a:r>
              <a:rPr lang="en-US" sz="1500" b="1" dirty="0">
                <a:solidFill>
                  <a:schemeClr val="tx1"/>
                </a:solidFill>
              </a:rPr>
              <a:t>Request</a:t>
            </a:r>
            <a:endParaRPr lang="en-US" sz="1500" dirty="0"/>
          </a:p>
        </p:txBody>
      </p:sp>
      <p:sp>
        <p:nvSpPr>
          <p:cNvPr id="14" name="rail-rule"/>
          <p:cNvSpPr/>
          <p:nvPr/>
        </p:nvSpPr>
        <p:spPr>
          <a:xfrm>
            <a:off x="2767523" y="5257800"/>
            <a:ext cx="2109155" cy="0"/>
          </a:xfrm>
          <a:prstGeom prst="line">
            <a:avLst/>
          </a:prstGeom>
          <a:noFill/>
          <a:ln w="9525">
            <a:solidFill>
              <a:schemeClr val="tx1"/>
            </a:solidFill>
            <a:prstDash val="solid"/>
          </a:ln>
        </p:spPr>
      </p:sp>
      <p:sp>
        <p:nvSpPr>
          <p:cNvPr id="15" name="rail-no"/>
          <p:cNvSpPr txBox="1"/>
          <p:nvPr/>
        </p:nvSpPr>
        <p:spPr>
          <a:xfrm>
            <a:off x="2767523" y="536752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02</a:t>
            </a:r>
            <a:endParaRPr lang="en-US" sz="1200" dirty="0"/>
          </a:p>
        </p:txBody>
      </p:sp>
      <p:sp>
        <p:nvSpPr>
          <p:cNvPr id="16" name="rail-label"/>
          <p:cNvSpPr txBox="1"/>
          <p:nvPr/>
        </p:nvSpPr>
        <p:spPr>
          <a:xfrm>
            <a:off x="2767523" y="5641848"/>
            <a:ext cx="2081723" cy="457200"/>
          </a:xfrm>
          <a:prstGeom prst="rect">
            <a:avLst/>
          </a:prstGeom>
          <a:noFill/>
          <a:ln/>
        </p:spPr>
        <p:txBody>
          <a:bodyPr wrap="square" lIns="0" tIns="0" rIns="0" bIns="0" rtlCol="0" anchor="t"/>
          <a:lstStyle/>
          <a:p>
            <a:pPr indent="0" marL="0">
              <a:buNone/>
            </a:pPr>
            <a:r>
              <a:rPr lang="en-US" sz="1500" b="1" dirty="0">
                <a:solidFill>
                  <a:schemeClr val="tx1"/>
                </a:solidFill>
              </a:rPr>
              <a:t>Boss approval</a:t>
            </a:r>
            <a:endParaRPr lang="en-US" sz="1500" dirty="0"/>
          </a:p>
        </p:txBody>
      </p:sp>
      <p:sp>
        <p:nvSpPr>
          <p:cNvPr id="17" name="rail-rule"/>
          <p:cNvSpPr/>
          <p:nvPr/>
        </p:nvSpPr>
        <p:spPr>
          <a:xfrm>
            <a:off x="4986406" y="5257800"/>
            <a:ext cx="2109155" cy="0"/>
          </a:xfrm>
          <a:prstGeom prst="line">
            <a:avLst/>
          </a:prstGeom>
          <a:noFill/>
          <a:ln w="9525">
            <a:solidFill>
              <a:schemeClr val="tx1"/>
            </a:solidFill>
            <a:prstDash val="solid"/>
          </a:ln>
        </p:spPr>
      </p:sp>
      <p:sp>
        <p:nvSpPr>
          <p:cNvPr id="18" name="rail-no"/>
          <p:cNvSpPr txBox="1"/>
          <p:nvPr/>
        </p:nvSpPr>
        <p:spPr>
          <a:xfrm>
            <a:off x="4986406" y="536752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03</a:t>
            </a:r>
            <a:endParaRPr lang="en-US" sz="1200" dirty="0"/>
          </a:p>
        </p:txBody>
      </p:sp>
      <p:sp>
        <p:nvSpPr>
          <p:cNvPr id="19" name="rail-label"/>
          <p:cNvSpPr txBox="1"/>
          <p:nvPr/>
        </p:nvSpPr>
        <p:spPr>
          <a:xfrm>
            <a:off x="4986406" y="5641848"/>
            <a:ext cx="2081723" cy="457200"/>
          </a:xfrm>
          <a:prstGeom prst="rect">
            <a:avLst/>
          </a:prstGeom>
          <a:noFill/>
          <a:ln/>
        </p:spPr>
        <p:txBody>
          <a:bodyPr wrap="square" lIns="0" tIns="0" rIns="0" bIns="0" rtlCol="0" anchor="t"/>
          <a:lstStyle/>
          <a:p>
            <a:pPr indent="0" marL="0">
              <a:buNone/>
            </a:pPr>
            <a:r>
              <a:rPr lang="en-US" sz="1500" b="1" dirty="0">
                <a:solidFill>
                  <a:schemeClr val="tx1"/>
                </a:solidFill>
              </a:rPr>
              <a:t>Purchase order</a:t>
            </a:r>
            <a:endParaRPr lang="en-US" sz="1500" dirty="0"/>
          </a:p>
        </p:txBody>
      </p:sp>
      <p:sp>
        <p:nvSpPr>
          <p:cNvPr id="20" name="rail-rule"/>
          <p:cNvSpPr/>
          <p:nvPr/>
        </p:nvSpPr>
        <p:spPr>
          <a:xfrm>
            <a:off x="7205289" y="5257800"/>
            <a:ext cx="2109155" cy="0"/>
          </a:xfrm>
          <a:prstGeom prst="line">
            <a:avLst/>
          </a:prstGeom>
          <a:noFill/>
          <a:ln w="9525">
            <a:solidFill>
              <a:schemeClr val="tx1"/>
            </a:solidFill>
            <a:prstDash val="solid"/>
          </a:ln>
        </p:spPr>
      </p:sp>
      <p:sp>
        <p:nvSpPr>
          <p:cNvPr id="21" name="rail-no"/>
          <p:cNvSpPr txBox="1"/>
          <p:nvPr/>
        </p:nvSpPr>
        <p:spPr>
          <a:xfrm>
            <a:off x="7205289" y="536752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04</a:t>
            </a:r>
            <a:endParaRPr lang="en-US" sz="1200" dirty="0"/>
          </a:p>
        </p:txBody>
      </p:sp>
      <p:sp>
        <p:nvSpPr>
          <p:cNvPr id="22" name="rail-label"/>
          <p:cNvSpPr txBox="1"/>
          <p:nvPr/>
        </p:nvSpPr>
        <p:spPr>
          <a:xfrm>
            <a:off x="7205289" y="5641848"/>
            <a:ext cx="2081723" cy="457200"/>
          </a:xfrm>
          <a:prstGeom prst="rect">
            <a:avLst/>
          </a:prstGeom>
          <a:noFill/>
          <a:ln/>
        </p:spPr>
        <p:txBody>
          <a:bodyPr wrap="square" lIns="0" tIns="0" rIns="0" bIns="0" rtlCol="0" anchor="t"/>
          <a:lstStyle/>
          <a:p>
            <a:pPr indent="0" marL="0">
              <a:buNone/>
            </a:pPr>
            <a:r>
              <a:rPr lang="en-US" sz="1500" b="1" dirty="0">
                <a:solidFill>
                  <a:schemeClr val="tx1"/>
                </a:solidFill>
              </a:rPr>
              <a:t>Payment</a:t>
            </a:r>
            <a:endParaRPr lang="en-US" sz="1500" dirty="0"/>
          </a:p>
        </p:txBody>
      </p:sp>
      <p:sp>
        <p:nvSpPr>
          <p:cNvPr id="23" name="rail-rule"/>
          <p:cNvSpPr/>
          <p:nvPr/>
        </p:nvSpPr>
        <p:spPr>
          <a:xfrm>
            <a:off x="9424172" y="5257800"/>
            <a:ext cx="2109155" cy="0"/>
          </a:xfrm>
          <a:prstGeom prst="line">
            <a:avLst/>
          </a:prstGeom>
          <a:noFill/>
          <a:ln w="9525">
            <a:solidFill>
              <a:schemeClr val="tx1"/>
            </a:solidFill>
            <a:prstDash val="solid"/>
          </a:ln>
        </p:spPr>
      </p:sp>
      <p:sp>
        <p:nvSpPr>
          <p:cNvPr id="24" name="rail-no"/>
          <p:cNvSpPr txBox="1"/>
          <p:nvPr/>
        </p:nvSpPr>
        <p:spPr>
          <a:xfrm>
            <a:off x="9424172" y="5367528"/>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05</a:t>
            </a:r>
            <a:endParaRPr lang="en-US" sz="1200" dirty="0"/>
          </a:p>
        </p:txBody>
      </p:sp>
      <p:sp>
        <p:nvSpPr>
          <p:cNvPr id="25" name="rail-label"/>
          <p:cNvSpPr txBox="1"/>
          <p:nvPr/>
        </p:nvSpPr>
        <p:spPr>
          <a:xfrm>
            <a:off x="9424172" y="5641848"/>
            <a:ext cx="2081723" cy="457200"/>
          </a:xfrm>
          <a:prstGeom prst="rect">
            <a:avLst/>
          </a:prstGeom>
          <a:noFill/>
          <a:ln/>
        </p:spPr>
        <p:txBody>
          <a:bodyPr wrap="square" lIns="0" tIns="0" rIns="0" bIns="0" rtlCol="0" anchor="t"/>
          <a:lstStyle/>
          <a:p>
            <a:pPr indent="0" marL="0">
              <a:buNone/>
            </a:pPr>
            <a:r>
              <a:rPr lang="en-US" sz="1500" b="1" dirty="0">
                <a:solidFill>
                  <a:schemeClr val="tx1"/>
                </a:solidFill>
              </a:rPr>
              <a:t>Stock</a:t>
            </a:r>
            <a:endParaRPr lang="en-US" sz="15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Database requirements and design</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1 · 10 points</a:t>
            </a:r>
            <a:endParaRPr lang="en-US" sz="1200" dirty="0"/>
          </a:p>
        </p:txBody>
      </p:sp>
      <p:sp>
        <p:nvSpPr>
          <p:cNvPr id="5" name="req-label"/>
          <p:cNvSpPr txBox="1"/>
          <p:nvPr/>
        </p:nvSpPr>
        <p:spPr>
          <a:xfrm>
            <a:off x="548640" y="1417320"/>
            <a:ext cx="4206240" cy="274320"/>
          </a:xfrm>
          <a:prstGeom prst="rect">
            <a:avLst/>
          </a:prstGeom>
          <a:noFill/>
          <a:ln/>
        </p:spPr>
        <p:txBody>
          <a:bodyPr wrap="square" lIns="0" tIns="0" rIns="0" bIns="0" rtlCol="0" anchor="t"/>
          <a:lstStyle/>
          <a:p>
            <a:pPr indent="0" marL="0">
              <a:buNone/>
            </a:pPr>
            <a:r>
              <a:rPr lang="en-US" sz="1300" b="1" dirty="0">
                <a:solidFill>
                  <a:schemeClr val="accent1"/>
                </a:solidFill>
              </a:rPr>
              <a:t>What the database must provide</a:t>
            </a:r>
            <a:endParaRPr lang="en-US" sz="1300" dirty="0"/>
          </a:p>
        </p:txBody>
      </p:sp>
      <p:sp>
        <p:nvSpPr>
          <p:cNvPr id="6" name="req-list"/>
          <p:cNvSpPr txBox="1"/>
          <p:nvPr/>
        </p:nvSpPr>
        <p:spPr>
          <a:xfrm>
            <a:off x="548640" y="1783080"/>
            <a:ext cx="420624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Relational integrity: foreign keys, a unique P.O. number</a:t>
            </a:r>
            <a:endParaRPr lang="en-US" sz="1500" dirty="0"/>
          </a:p>
          <a:p>
            <a:pPr marL="342900" indent="-342900">
              <a:spcAft>
                <a:spcPts val="900"/>
              </a:spcAft>
              <a:buSzPct val="100000"/>
              <a:buChar char="•"/>
            </a:pPr>
            <a:r>
              <a:rPr lang="en-US" sz="1500" dirty="0">
                <a:solidFill>
                  <a:schemeClr val="tx1"/>
                </a:solidFill>
              </a:rPr>
              <a:t>Multi-table changes that are all-or-nothing</a:t>
            </a:r>
            <a:endParaRPr lang="en-US" sz="1500" dirty="0"/>
          </a:p>
          <a:p>
            <a:pPr marL="342900" indent="-342900">
              <a:spcAft>
                <a:spcPts val="900"/>
              </a:spcAft>
              <a:buSzPct val="100000"/>
              <a:buChar char="•"/>
            </a:pPr>
            <a:r>
              <a:rPr lang="en-US" sz="1500" dirty="0">
                <a:solidFill>
                  <a:schemeClr val="tx1"/>
                </a:solidFill>
              </a:rPr>
              <a:t>Sensitive columns encrypted</a:t>
            </a:r>
            <a:endParaRPr lang="en-US" sz="1500" dirty="0"/>
          </a:p>
          <a:p>
            <a:pPr marL="342900" indent="-342900">
              <a:spcAft>
                <a:spcPts val="900"/>
              </a:spcAft>
              <a:buSzPct val="100000"/>
              <a:buChar char="•"/>
            </a:pPr>
            <a:r>
              <a:rPr lang="en-US" sz="1500" dirty="0">
                <a:solidFill>
                  <a:schemeClr val="tx1"/>
                </a:solidFill>
              </a:rPr>
              <a:t>Privileges per role</a:t>
            </a:r>
            <a:endParaRPr lang="en-US" sz="1500" dirty="0"/>
          </a:p>
          <a:p>
            <a:pPr marL="342900" indent="-342900">
              <a:spcAft>
                <a:spcPts val="900"/>
              </a:spcAft>
              <a:buSzPct val="100000"/>
              <a:buChar char="•"/>
            </a:pPr>
            <a:r>
              <a:rPr lang="en-US" sz="1500" dirty="0">
                <a:solidFill>
                  <a:schemeClr val="tx1"/>
                </a:solidFill>
              </a:rPr>
              <a:t>A fast report over a large expense ledger</a:t>
            </a:r>
            <a:endParaRPr lang="en-US" sz="1500" dirty="0"/>
          </a:p>
        </p:txBody>
      </p:sp>
      <p:sp>
        <p:nvSpPr>
          <p:cNvPr id="7" name="group-box"/>
          <p:cNvSpPr/>
          <p:nvPr/>
        </p:nvSpPr>
        <p:spPr>
          <a:xfrm>
            <a:off x="5212080" y="1417320"/>
            <a:ext cx="2041855" cy="1645920"/>
          </a:xfrm>
          <a:prstGeom prst="rect">
            <a:avLst/>
          </a:prstGeom>
          <a:ln w="9525">
            <a:solidFill>
              <a:schemeClr val="tx1"/>
            </a:solidFill>
            <a:prstDash val="solid"/>
          </a:ln>
        </p:spPr>
      </p:sp>
      <p:sp>
        <p:nvSpPr>
          <p:cNvPr id="8" name="group-name"/>
          <p:cNvSpPr txBox="1"/>
          <p:nvPr/>
        </p:nvSpPr>
        <p:spPr>
          <a:xfrm>
            <a:off x="5349240" y="1545336"/>
            <a:ext cx="1767535" cy="274320"/>
          </a:xfrm>
          <a:prstGeom prst="rect">
            <a:avLst/>
          </a:prstGeom>
          <a:noFill/>
          <a:ln/>
        </p:spPr>
        <p:txBody>
          <a:bodyPr wrap="square" lIns="0" tIns="0" rIns="0" bIns="0" rtlCol="0" anchor="t"/>
          <a:lstStyle/>
          <a:p>
            <a:pPr indent="0" marL="0">
              <a:buNone/>
            </a:pPr>
            <a:r>
              <a:rPr lang="en-US" sz="1300" b="1" dirty="0">
                <a:solidFill>
                  <a:schemeClr val="accent1"/>
                </a:solidFill>
              </a:rPr>
              <a:t>People and projects</a:t>
            </a:r>
            <a:endParaRPr lang="en-US" sz="1300" dirty="0"/>
          </a:p>
        </p:txBody>
      </p:sp>
      <p:sp>
        <p:nvSpPr>
          <p:cNvPr id="9" name="group-tables"/>
          <p:cNvSpPr txBox="1"/>
          <p:nvPr/>
        </p:nvSpPr>
        <p:spPr>
          <a:xfrm>
            <a:off x="5349240" y="1929384"/>
            <a:ext cx="1767535" cy="1188720"/>
          </a:xfrm>
          <a:prstGeom prst="rect">
            <a:avLst/>
          </a:prstGeom>
          <a:noFill/>
          <a:ln/>
        </p:spPr>
        <p:txBody>
          <a:bodyPr wrap="square" lIns="0" tIns="0" rIns="0" bIns="0" rtlCol="0" anchor="t"/>
          <a:lstStyle/>
          <a:p>
            <a:pPr indent="0" marL="0">
              <a:buNone/>
            </a:pPr>
            <a:r>
              <a:rPr lang="en-US" sz="1400" dirty="0">
                <a:solidFill>
                  <a:schemeClr val="tx1"/>
                </a:solidFill>
              </a:rPr>
              <a:t>users</a:t>
            </a:r>
            <a:endParaRPr lang="en-US" sz="1400" dirty="0"/>
          </a:p>
          <a:p>
            <a:pPr indent="0" marL="0">
              <a:buNone/>
            </a:pPr>
            <a:r>
              <a:rPr lang="en-US" sz="1400" dirty="0">
                <a:solidFill>
                  <a:schemeClr val="tx1"/>
                </a:solidFill>
              </a:rPr>
              <a:t>projects</a:t>
            </a:r>
            <a:endParaRPr lang="en-US" sz="1400" dirty="0"/>
          </a:p>
          <a:p>
            <a:pPr indent="0" marL="0">
              <a:buNone/>
            </a:pPr>
            <a:r>
              <a:rPr lang="en-US" sz="1400" dirty="0">
                <a:solidFill>
                  <a:schemeClr val="tx1"/>
                </a:solidFill>
              </a:rPr>
              <a:t>vendors</a:t>
            </a:r>
            <a:endParaRPr lang="en-US" sz="1400" dirty="0"/>
          </a:p>
        </p:txBody>
      </p:sp>
      <p:sp>
        <p:nvSpPr>
          <p:cNvPr id="10" name="group-box"/>
          <p:cNvSpPr/>
          <p:nvPr/>
        </p:nvSpPr>
        <p:spPr>
          <a:xfrm>
            <a:off x="7406640" y="1417320"/>
            <a:ext cx="2041855" cy="1645920"/>
          </a:xfrm>
          <a:prstGeom prst="rect">
            <a:avLst/>
          </a:prstGeom>
          <a:ln w="9525">
            <a:solidFill>
              <a:schemeClr val="tx1"/>
            </a:solidFill>
            <a:prstDash val="solid"/>
          </a:ln>
        </p:spPr>
      </p:sp>
      <p:sp>
        <p:nvSpPr>
          <p:cNvPr id="11" name="group-name"/>
          <p:cNvSpPr txBox="1"/>
          <p:nvPr/>
        </p:nvSpPr>
        <p:spPr>
          <a:xfrm>
            <a:off x="7543800" y="1545336"/>
            <a:ext cx="1767535" cy="274320"/>
          </a:xfrm>
          <a:prstGeom prst="rect">
            <a:avLst/>
          </a:prstGeom>
          <a:noFill/>
          <a:ln/>
        </p:spPr>
        <p:txBody>
          <a:bodyPr wrap="square" lIns="0" tIns="0" rIns="0" bIns="0" rtlCol="0" anchor="t"/>
          <a:lstStyle/>
          <a:p>
            <a:pPr indent="0" marL="0">
              <a:buNone/>
            </a:pPr>
            <a:r>
              <a:rPr lang="en-US" sz="1300" b="1" dirty="0">
                <a:solidFill>
                  <a:schemeClr val="accent1"/>
                </a:solidFill>
              </a:rPr>
              <a:t>Requests</a:t>
            </a:r>
            <a:endParaRPr lang="en-US" sz="1300" dirty="0"/>
          </a:p>
        </p:txBody>
      </p:sp>
      <p:sp>
        <p:nvSpPr>
          <p:cNvPr id="12" name="group-tables"/>
          <p:cNvSpPr txBox="1"/>
          <p:nvPr/>
        </p:nvSpPr>
        <p:spPr>
          <a:xfrm>
            <a:off x="7543800" y="1929384"/>
            <a:ext cx="1767535" cy="1188720"/>
          </a:xfrm>
          <a:prstGeom prst="rect">
            <a:avLst/>
          </a:prstGeom>
          <a:noFill/>
          <a:ln/>
        </p:spPr>
        <p:txBody>
          <a:bodyPr wrap="square" lIns="0" tIns="0" rIns="0" bIns="0" rtlCol="0" anchor="t"/>
          <a:lstStyle/>
          <a:p>
            <a:pPr indent="0" marL="0">
              <a:buNone/>
            </a:pPr>
            <a:r>
              <a:rPr lang="en-US" sz="1400" dirty="0">
                <a:solidFill>
                  <a:schemeClr val="tx1"/>
                </a:solidFill>
              </a:rPr>
              <a:t>tickets</a:t>
            </a:r>
            <a:endParaRPr lang="en-US" sz="1400" dirty="0"/>
          </a:p>
          <a:p>
            <a:pPr indent="0" marL="0">
              <a:buNone/>
            </a:pPr>
            <a:r>
              <a:rPr lang="en-US" sz="1400" dirty="0">
                <a:solidFill>
                  <a:schemeClr val="tx1"/>
                </a:solidFill>
              </a:rPr>
              <a:t>ticket_items</a:t>
            </a:r>
            <a:endParaRPr lang="en-US" sz="1400" dirty="0"/>
          </a:p>
        </p:txBody>
      </p:sp>
      <p:sp>
        <p:nvSpPr>
          <p:cNvPr id="13" name="group-box"/>
          <p:cNvSpPr/>
          <p:nvPr/>
        </p:nvSpPr>
        <p:spPr>
          <a:xfrm>
            <a:off x="9601200" y="1417320"/>
            <a:ext cx="2041855" cy="1645920"/>
          </a:xfrm>
          <a:prstGeom prst="rect">
            <a:avLst/>
          </a:prstGeom>
          <a:ln w="9525">
            <a:solidFill>
              <a:schemeClr val="tx1"/>
            </a:solidFill>
            <a:prstDash val="solid"/>
          </a:ln>
        </p:spPr>
      </p:sp>
      <p:sp>
        <p:nvSpPr>
          <p:cNvPr id="14" name="group-name"/>
          <p:cNvSpPr txBox="1"/>
          <p:nvPr/>
        </p:nvSpPr>
        <p:spPr>
          <a:xfrm>
            <a:off x="9738360" y="1545336"/>
            <a:ext cx="1767535" cy="274320"/>
          </a:xfrm>
          <a:prstGeom prst="rect">
            <a:avLst/>
          </a:prstGeom>
          <a:noFill/>
          <a:ln/>
        </p:spPr>
        <p:txBody>
          <a:bodyPr wrap="square" lIns="0" tIns="0" rIns="0" bIns="0" rtlCol="0" anchor="t"/>
          <a:lstStyle/>
          <a:p>
            <a:pPr indent="0" marL="0">
              <a:buNone/>
            </a:pPr>
            <a:r>
              <a:rPr lang="en-US" sz="1300" b="1" dirty="0">
                <a:solidFill>
                  <a:schemeClr val="accent1"/>
                </a:solidFill>
              </a:rPr>
              <a:t>Purchasing</a:t>
            </a:r>
            <a:endParaRPr lang="en-US" sz="1300" dirty="0"/>
          </a:p>
        </p:txBody>
      </p:sp>
      <p:sp>
        <p:nvSpPr>
          <p:cNvPr id="15" name="group-tables"/>
          <p:cNvSpPr txBox="1"/>
          <p:nvPr/>
        </p:nvSpPr>
        <p:spPr>
          <a:xfrm>
            <a:off x="9738360" y="1929384"/>
            <a:ext cx="1767535" cy="1188720"/>
          </a:xfrm>
          <a:prstGeom prst="rect">
            <a:avLst/>
          </a:prstGeom>
          <a:noFill/>
          <a:ln/>
        </p:spPr>
        <p:txBody>
          <a:bodyPr wrap="square" lIns="0" tIns="0" rIns="0" bIns="0" rtlCol="0" anchor="t"/>
          <a:lstStyle/>
          <a:p>
            <a:pPr indent="0" marL="0">
              <a:buNone/>
            </a:pPr>
            <a:r>
              <a:rPr lang="en-US" sz="1400" dirty="0">
                <a:solidFill>
                  <a:schemeClr val="tx1"/>
                </a:solidFill>
              </a:rPr>
              <a:t>purchase_orders</a:t>
            </a:r>
            <a:endParaRPr lang="en-US" sz="1400" dirty="0"/>
          </a:p>
          <a:p>
            <a:pPr indent="0" marL="0">
              <a:buNone/>
            </a:pPr>
            <a:r>
              <a:rPr lang="en-US" sz="1400" dirty="0">
                <a:solidFill>
                  <a:schemeClr val="tx1"/>
                </a:solidFill>
              </a:rPr>
              <a:t>po_items</a:t>
            </a:r>
            <a:endParaRPr lang="en-US" sz="1400" dirty="0"/>
          </a:p>
          <a:p>
            <a:pPr indent="0" marL="0">
              <a:buNone/>
            </a:pPr>
            <a:r>
              <a:rPr lang="en-US" sz="1400" dirty="0">
                <a:solidFill>
                  <a:schemeClr val="tx1"/>
                </a:solidFill>
              </a:rPr>
              <a:t>payments</a:t>
            </a:r>
            <a:endParaRPr lang="en-US" sz="1400" dirty="0"/>
          </a:p>
        </p:txBody>
      </p:sp>
      <p:sp>
        <p:nvSpPr>
          <p:cNvPr id="16" name="group-box"/>
          <p:cNvSpPr/>
          <p:nvPr/>
        </p:nvSpPr>
        <p:spPr>
          <a:xfrm>
            <a:off x="5212080" y="3246120"/>
            <a:ext cx="2041855" cy="1645920"/>
          </a:xfrm>
          <a:prstGeom prst="rect">
            <a:avLst/>
          </a:prstGeom>
          <a:ln w="9525">
            <a:solidFill>
              <a:schemeClr val="tx1"/>
            </a:solidFill>
            <a:prstDash val="solid"/>
          </a:ln>
        </p:spPr>
      </p:sp>
      <p:sp>
        <p:nvSpPr>
          <p:cNvPr id="17" name="group-name"/>
          <p:cNvSpPr txBox="1"/>
          <p:nvPr/>
        </p:nvSpPr>
        <p:spPr>
          <a:xfrm>
            <a:off x="5349240" y="3374136"/>
            <a:ext cx="1767535" cy="274320"/>
          </a:xfrm>
          <a:prstGeom prst="rect">
            <a:avLst/>
          </a:prstGeom>
          <a:noFill/>
          <a:ln/>
        </p:spPr>
        <p:txBody>
          <a:bodyPr wrap="square" lIns="0" tIns="0" rIns="0" bIns="0" rtlCol="0" anchor="t"/>
          <a:lstStyle/>
          <a:p>
            <a:pPr indent="0" marL="0">
              <a:buNone/>
            </a:pPr>
            <a:r>
              <a:rPr lang="en-US" sz="1300" b="1" dirty="0">
                <a:solidFill>
                  <a:schemeClr val="accent1"/>
                </a:solidFill>
              </a:rPr>
              <a:t>Money and stock</a:t>
            </a:r>
            <a:endParaRPr lang="en-US" sz="1300" dirty="0"/>
          </a:p>
        </p:txBody>
      </p:sp>
      <p:sp>
        <p:nvSpPr>
          <p:cNvPr id="18" name="group-tables"/>
          <p:cNvSpPr txBox="1"/>
          <p:nvPr/>
        </p:nvSpPr>
        <p:spPr>
          <a:xfrm>
            <a:off x="5349240" y="3758184"/>
            <a:ext cx="1767535" cy="1188720"/>
          </a:xfrm>
          <a:prstGeom prst="rect">
            <a:avLst/>
          </a:prstGeom>
          <a:noFill/>
          <a:ln/>
        </p:spPr>
        <p:txBody>
          <a:bodyPr wrap="square" lIns="0" tIns="0" rIns="0" bIns="0" rtlCol="0" anchor="t"/>
          <a:lstStyle/>
          <a:p>
            <a:pPr indent="0" marL="0">
              <a:buNone/>
            </a:pPr>
            <a:r>
              <a:rPr lang="en-US" sz="1400" dirty="0">
                <a:solidFill>
                  <a:schemeClr val="tx1"/>
                </a:solidFill>
              </a:rPr>
              <a:t>expenses</a:t>
            </a:r>
            <a:endParaRPr lang="en-US" sz="1400" dirty="0"/>
          </a:p>
          <a:p>
            <a:pPr indent="0" marL="0">
              <a:buNone/>
            </a:pPr>
            <a:r>
              <a:rPr lang="en-US" sz="1400" dirty="0">
                <a:solidFill>
                  <a:schemeClr val="tx1"/>
                </a:solidFill>
              </a:rPr>
              <a:t>inventory</a:t>
            </a:r>
            <a:endParaRPr lang="en-US" sz="1400" dirty="0"/>
          </a:p>
          <a:p>
            <a:pPr indent="0" marL="0">
              <a:buNone/>
            </a:pPr>
            <a:r>
              <a:rPr lang="en-US" sz="1400" dirty="0">
                <a:solidFill>
                  <a:schemeClr val="tx1"/>
                </a:solidFill>
              </a:rPr>
              <a:t>inventory_log</a:t>
            </a:r>
            <a:endParaRPr lang="en-US" sz="1400" dirty="0"/>
          </a:p>
        </p:txBody>
      </p:sp>
      <p:sp>
        <p:nvSpPr>
          <p:cNvPr id="19" name="group-box"/>
          <p:cNvSpPr/>
          <p:nvPr/>
        </p:nvSpPr>
        <p:spPr>
          <a:xfrm>
            <a:off x="7406640" y="3246120"/>
            <a:ext cx="2041855" cy="1645920"/>
          </a:xfrm>
          <a:prstGeom prst="rect">
            <a:avLst/>
          </a:prstGeom>
          <a:ln w="9525">
            <a:solidFill>
              <a:schemeClr val="tx1"/>
            </a:solidFill>
            <a:prstDash val="solid"/>
          </a:ln>
        </p:spPr>
      </p:sp>
      <p:sp>
        <p:nvSpPr>
          <p:cNvPr id="20" name="group-name"/>
          <p:cNvSpPr txBox="1"/>
          <p:nvPr/>
        </p:nvSpPr>
        <p:spPr>
          <a:xfrm>
            <a:off x="7543800" y="3374136"/>
            <a:ext cx="1767535" cy="274320"/>
          </a:xfrm>
          <a:prstGeom prst="rect">
            <a:avLst/>
          </a:prstGeom>
          <a:noFill/>
          <a:ln/>
        </p:spPr>
        <p:txBody>
          <a:bodyPr wrap="square" lIns="0" tIns="0" rIns="0" bIns="0" rtlCol="0" anchor="t"/>
          <a:lstStyle/>
          <a:p>
            <a:pPr indent="0" marL="0">
              <a:buNone/>
            </a:pPr>
            <a:r>
              <a:rPr lang="en-US" sz="1300" b="1" dirty="0">
                <a:solidFill>
                  <a:schemeClr val="accent1"/>
                </a:solidFill>
              </a:rPr>
              <a:t>Audit</a:t>
            </a:r>
            <a:endParaRPr lang="en-US" sz="1300" dirty="0"/>
          </a:p>
        </p:txBody>
      </p:sp>
      <p:sp>
        <p:nvSpPr>
          <p:cNvPr id="21" name="group-tables"/>
          <p:cNvSpPr txBox="1"/>
          <p:nvPr/>
        </p:nvSpPr>
        <p:spPr>
          <a:xfrm>
            <a:off x="7543800" y="3758184"/>
            <a:ext cx="1767535" cy="1188720"/>
          </a:xfrm>
          <a:prstGeom prst="rect">
            <a:avLst/>
          </a:prstGeom>
          <a:noFill/>
          <a:ln/>
        </p:spPr>
        <p:txBody>
          <a:bodyPr wrap="square" lIns="0" tIns="0" rIns="0" bIns="0" rtlCol="0" anchor="t"/>
          <a:lstStyle/>
          <a:p>
            <a:pPr indent="0" marL="0">
              <a:buNone/>
            </a:pPr>
            <a:r>
              <a:rPr lang="en-US" sz="1400" dirty="0">
                <a:solidFill>
                  <a:schemeClr val="tx1"/>
                </a:solidFill>
              </a:rPr>
              <a:t>activity_log</a:t>
            </a:r>
            <a:endParaRPr lang="en-US" sz="1400" dirty="0"/>
          </a:p>
        </p:txBody>
      </p:sp>
      <p:sp>
        <p:nvSpPr>
          <p:cNvPr id="22" name="design-note"/>
          <p:cNvSpPr txBox="1"/>
          <p:nvPr/>
        </p:nvSpPr>
        <p:spPr>
          <a:xfrm>
            <a:off x="9601200" y="3246120"/>
            <a:ext cx="2041855" cy="1737360"/>
          </a:xfrm>
          <a:prstGeom prst="rect">
            <a:avLst/>
          </a:prstGeom>
          <a:noFill/>
          <a:ln/>
        </p:spPr>
        <p:txBody>
          <a:bodyPr wrap="square" lIns="0" tIns="0" rIns="0" bIns="0" rtlCol="0" anchor="t"/>
          <a:lstStyle/>
          <a:p>
            <a:pPr indent="0" marL="0">
              <a:buNone/>
            </a:pPr>
            <a:r>
              <a:rPr lang="en-US" sz="1250" dirty="0">
                <a:solidFill>
                  <a:schemeClr val="tx2"/>
                </a:solidFill>
              </a:rPr>
              <a:t>12 tables in 3NF on InnoDB. Foreign keys link each stage to the one before it.</a:t>
            </a:r>
            <a:endParaRPr lang="en-US" sz="125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How the system is built</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Front end · back end · database</a:t>
            </a:r>
            <a:endParaRPr lang="en-US" sz="1200" dirty="0"/>
          </a:p>
        </p:txBody>
      </p:sp>
      <p:sp>
        <p:nvSpPr>
          <p:cNvPr id="5" name="col-head"/>
          <p:cNvSpPr txBox="1"/>
          <p:nvPr/>
        </p:nvSpPr>
        <p:spPr>
          <a:xfrm>
            <a:off x="548640" y="1463040"/>
            <a:ext cx="3383280" cy="411480"/>
          </a:xfrm>
          <a:prstGeom prst="rect">
            <a:avLst/>
          </a:prstGeom>
          <a:noFill/>
          <a:ln/>
        </p:spPr>
        <p:txBody>
          <a:bodyPr wrap="square" lIns="0" tIns="0" rIns="0" bIns="0" rtlCol="0" anchor="t"/>
          <a:lstStyle/>
          <a:p>
            <a:pPr indent="0" marL="0">
              <a:buNone/>
            </a:pPr>
            <a:r>
              <a:rPr lang="en-US" sz="2200" b="1" dirty="0">
                <a:solidFill>
                  <a:schemeClr val="tx1"/>
                </a:solidFill>
              </a:rPr>
              <a:t>Front end</a:t>
            </a:r>
            <a:endParaRPr lang="en-US" sz="2200" dirty="0"/>
          </a:p>
        </p:txBody>
      </p:sp>
      <p:sp>
        <p:nvSpPr>
          <p:cNvPr id="6" name="col-sub"/>
          <p:cNvSpPr txBox="1"/>
          <p:nvPr/>
        </p:nvSpPr>
        <p:spPr>
          <a:xfrm>
            <a:off x="548640" y="1920240"/>
            <a:ext cx="3383280" cy="274320"/>
          </a:xfrm>
          <a:prstGeom prst="rect">
            <a:avLst/>
          </a:prstGeom>
          <a:noFill/>
          <a:ln/>
        </p:spPr>
        <p:txBody>
          <a:bodyPr wrap="square" lIns="0" tIns="0" rIns="0" bIns="0" rtlCol="0" anchor="t"/>
          <a:lstStyle/>
          <a:p>
            <a:pPr indent="0" marL="0">
              <a:buNone/>
            </a:pPr>
            <a:r>
              <a:rPr lang="en-US" sz="1200" dirty="0">
                <a:solidFill>
                  <a:schemeClr val="tx2"/>
                </a:solidFill>
              </a:rPr>
              <a:t>public/  ·  the browser</a:t>
            </a:r>
            <a:endParaRPr lang="en-US" sz="1200" dirty="0"/>
          </a:p>
        </p:txBody>
      </p:sp>
      <p:sp>
        <p:nvSpPr>
          <p:cNvPr id="7" name="col-rule"/>
          <p:cNvSpPr/>
          <p:nvPr/>
        </p:nvSpPr>
        <p:spPr>
          <a:xfrm>
            <a:off x="548640" y="2286000"/>
            <a:ext cx="3383280" cy="0"/>
          </a:xfrm>
          <a:prstGeom prst="line">
            <a:avLst/>
          </a:prstGeom>
          <a:noFill/>
          <a:ln w="9525">
            <a:solidFill>
              <a:schemeClr val="tx1"/>
            </a:solidFill>
            <a:prstDash val="solid"/>
          </a:ln>
        </p:spPr>
      </p:sp>
      <p:sp>
        <p:nvSpPr>
          <p:cNvPr id="8" name="col-list"/>
          <p:cNvSpPr txBox="1"/>
          <p:nvPr/>
        </p:nvSpPr>
        <p:spPr>
          <a:xfrm>
            <a:off x="548640" y="2468880"/>
            <a:ext cx="338328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Plain HTML, CSS and JavaScript. No framework, no build step</a:t>
            </a:r>
            <a:endParaRPr lang="en-US" sz="1400" dirty="0"/>
          </a:p>
          <a:p>
            <a:pPr marL="342900" indent="-342900">
              <a:spcAft>
                <a:spcPts val="1000"/>
              </a:spcAft>
              <a:buSzPct val="100000"/>
              <a:buChar char="•"/>
            </a:pPr>
            <a:r>
              <a:rPr lang="en-US" sz="1400" dirty="0">
                <a:solidFill>
                  <a:schemeClr val="tx1"/>
                </a:solidFill>
              </a:rPr>
              <a:t>index.html is sign-in, app.html is the shell, js/app.js draws every screen</a:t>
            </a:r>
            <a:endParaRPr lang="en-US" sz="1400" dirty="0"/>
          </a:p>
          <a:p>
            <a:pPr marL="342900" indent="-342900">
              <a:spcAft>
                <a:spcPts val="1000"/>
              </a:spcAft>
              <a:buSzPct val="100000"/>
              <a:buChar char="•"/>
            </a:pPr>
            <a:r>
              <a:rPr lang="en-US" sz="1400" dirty="0">
                <a:solidFill>
                  <a:schemeClr val="tx1"/>
                </a:solidFill>
              </a:rPr>
              <a:t>Shows only what the signed-in role may use</a:t>
            </a:r>
            <a:endParaRPr lang="en-US" sz="1400" dirty="0"/>
          </a:p>
          <a:p>
            <a:pPr marL="342900" indent="-342900">
              <a:spcAft>
                <a:spcPts val="1000"/>
              </a:spcAft>
              <a:buSzPct val="100000"/>
              <a:buChar char="•"/>
            </a:pPr>
            <a:r>
              <a:rPr lang="en-US" sz="1400" dirty="0">
                <a:solidFill>
                  <a:schemeClr val="tx1"/>
                </a:solidFill>
              </a:rPr>
              <a:t>Contains no SQL</a:t>
            </a:r>
            <a:endParaRPr lang="en-US" sz="1400" dirty="0"/>
          </a:p>
        </p:txBody>
      </p:sp>
      <p:sp>
        <p:nvSpPr>
          <p:cNvPr id="9" name="col-head"/>
          <p:cNvSpPr txBox="1"/>
          <p:nvPr/>
        </p:nvSpPr>
        <p:spPr>
          <a:xfrm>
            <a:off x="4389120" y="1463040"/>
            <a:ext cx="3383280" cy="411480"/>
          </a:xfrm>
          <a:prstGeom prst="rect">
            <a:avLst/>
          </a:prstGeom>
          <a:noFill/>
          <a:ln/>
        </p:spPr>
        <p:txBody>
          <a:bodyPr wrap="square" lIns="0" tIns="0" rIns="0" bIns="0" rtlCol="0" anchor="t"/>
          <a:lstStyle/>
          <a:p>
            <a:pPr indent="0" marL="0">
              <a:buNone/>
            </a:pPr>
            <a:r>
              <a:rPr lang="en-US" sz="2200" b="1" dirty="0">
                <a:solidFill>
                  <a:schemeClr val="tx1"/>
                </a:solidFill>
              </a:rPr>
              <a:t>Back end</a:t>
            </a:r>
            <a:endParaRPr lang="en-US" sz="2200" dirty="0"/>
          </a:p>
        </p:txBody>
      </p:sp>
      <p:sp>
        <p:nvSpPr>
          <p:cNvPr id="10" name="col-sub"/>
          <p:cNvSpPr txBox="1"/>
          <p:nvPr/>
        </p:nvSpPr>
        <p:spPr>
          <a:xfrm>
            <a:off x="4389120" y="1920240"/>
            <a:ext cx="3383280" cy="274320"/>
          </a:xfrm>
          <a:prstGeom prst="rect">
            <a:avLst/>
          </a:prstGeom>
          <a:noFill/>
          <a:ln/>
        </p:spPr>
        <p:txBody>
          <a:bodyPr wrap="square" lIns="0" tIns="0" rIns="0" bIns="0" rtlCol="0" anchor="t"/>
          <a:lstStyle/>
          <a:p>
            <a:pPr indent="0" marL="0">
              <a:buNone/>
            </a:pPr>
            <a:r>
              <a:rPr lang="en-US" sz="1200" dirty="0">
                <a:solidFill>
                  <a:schemeClr val="tx2"/>
                </a:solidFill>
              </a:rPr>
              <a:t>server/  ·  Node.js and Express</a:t>
            </a:r>
            <a:endParaRPr lang="en-US" sz="1200" dirty="0"/>
          </a:p>
        </p:txBody>
      </p:sp>
      <p:sp>
        <p:nvSpPr>
          <p:cNvPr id="11" name="col-rule"/>
          <p:cNvSpPr/>
          <p:nvPr/>
        </p:nvSpPr>
        <p:spPr>
          <a:xfrm>
            <a:off x="4389120" y="2286000"/>
            <a:ext cx="3383280" cy="0"/>
          </a:xfrm>
          <a:prstGeom prst="line">
            <a:avLst/>
          </a:prstGeom>
          <a:noFill/>
          <a:ln w="9525">
            <a:solidFill>
              <a:schemeClr val="tx1"/>
            </a:solidFill>
            <a:prstDash val="solid"/>
          </a:ln>
        </p:spPr>
      </p:sp>
      <p:sp>
        <p:nvSpPr>
          <p:cNvPr id="12" name="col-list"/>
          <p:cNvSpPr txBox="1"/>
          <p:nvPr/>
        </p:nvSpPr>
        <p:spPr>
          <a:xfrm>
            <a:off x="4389120" y="2468880"/>
            <a:ext cx="338328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auth.js: password check (bcrypt), then a signed login token (JWT, 8 hours)</a:t>
            </a:r>
            <a:endParaRPr lang="en-US" sz="1400" dirty="0"/>
          </a:p>
          <a:p>
            <a:pPr marL="342900" indent="-342900">
              <a:spcAft>
                <a:spcPts val="1000"/>
              </a:spcAft>
              <a:buSzPct val="100000"/>
              <a:buChar char="•"/>
            </a:pPr>
            <a:r>
              <a:rPr lang="en-US" sz="1400" dirty="0">
                <a:solidFill>
                  <a:schemeClr val="tx1"/>
                </a:solidFill>
              </a:rPr>
              <a:t>db.js: one connection pool per MySQL user, and withTransaction (COMMIT or ROLLBACK)</a:t>
            </a:r>
            <a:endParaRPr lang="en-US" sz="1400" dirty="0"/>
          </a:p>
          <a:p>
            <a:pPr marL="342900" indent="-342900">
              <a:spcAft>
                <a:spcPts val="1000"/>
              </a:spcAft>
              <a:buSzPct val="100000"/>
              <a:buChar char="•"/>
            </a:pPr>
            <a:r>
              <a:rPr lang="en-US" sz="1400" dirty="0">
                <a:solidFill>
                  <a:schemeClr val="tx1"/>
                </a:solidFill>
              </a:rPr>
              <a:t>routes/*.js: validate input, run parameterized SQL, return JSON</a:t>
            </a:r>
            <a:endParaRPr lang="en-US" sz="1400" dirty="0"/>
          </a:p>
        </p:txBody>
      </p:sp>
      <p:sp>
        <p:nvSpPr>
          <p:cNvPr id="13" name="col-head"/>
          <p:cNvSpPr txBox="1"/>
          <p:nvPr/>
        </p:nvSpPr>
        <p:spPr>
          <a:xfrm>
            <a:off x="8229600" y="1463040"/>
            <a:ext cx="3383280" cy="411480"/>
          </a:xfrm>
          <a:prstGeom prst="rect">
            <a:avLst/>
          </a:prstGeom>
          <a:noFill/>
          <a:ln/>
        </p:spPr>
        <p:txBody>
          <a:bodyPr wrap="square" lIns="0" tIns="0" rIns="0" bIns="0" rtlCol="0" anchor="t"/>
          <a:lstStyle/>
          <a:p>
            <a:pPr indent="0" marL="0">
              <a:buNone/>
            </a:pPr>
            <a:r>
              <a:rPr lang="en-US" sz="2200" b="1" dirty="0">
                <a:solidFill>
                  <a:schemeClr val="tx1"/>
                </a:solidFill>
              </a:rPr>
              <a:t>Database</a:t>
            </a:r>
            <a:endParaRPr lang="en-US" sz="2200" dirty="0"/>
          </a:p>
        </p:txBody>
      </p:sp>
      <p:sp>
        <p:nvSpPr>
          <p:cNvPr id="14" name="col-sub"/>
          <p:cNvSpPr txBox="1"/>
          <p:nvPr/>
        </p:nvSpPr>
        <p:spPr>
          <a:xfrm>
            <a:off x="8229600" y="1920240"/>
            <a:ext cx="3383280" cy="274320"/>
          </a:xfrm>
          <a:prstGeom prst="rect">
            <a:avLst/>
          </a:prstGeom>
          <a:noFill/>
          <a:ln/>
        </p:spPr>
        <p:txBody>
          <a:bodyPr wrap="square" lIns="0" tIns="0" rIns="0" bIns="0" rtlCol="0" anchor="t"/>
          <a:lstStyle/>
          <a:p>
            <a:pPr indent="0" marL="0">
              <a:buNone/>
            </a:pPr>
            <a:r>
              <a:rPr lang="en-US" sz="1200" dirty="0">
                <a:solidFill>
                  <a:schemeClr val="tx2"/>
                </a:solidFill>
              </a:rPr>
              <a:t>rsci_sql  ·  MySQL</a:t>
            </a:r>
            <a:endParaRPr lang="en-US" sz="1200" dirty="0"/>
          </a:p>
        </p:txBody>
      </p:sp>
      <p:sp>
        <p:nvSpPr>
          <p:cNvPr id="15" name="col-rule"/>
          <p:cNvSpPr/>
          <p:nvPr/>
        </p:nvSpPr>
        <p:spPr>
          <a:xfrm>
            <a:off x="8229600" y="2286000"/>
            <a:ext cx="3383280" cy="0"/>
          </a:xfrm>
          <a:prstGeom prst="line">
            <a:avLst/>
          </a:prstGeom>
          <a:noFill/>
          <a:ln w="9525">
            <a:solidFill>
              <a:schemeClr val="tx1"/>
            </a:solidFill>
            <a:prstDash val="solid"/>
          </a:ln>
        </p:spPr>
      </p:sp>
      <p:sp>
        <p:nvSpPr>
          <p:cNvPr id="16" name="col-list"/>
          <p:cNvSpPr txBox="1"/>
          <p:nvPr/>
        </p:nvSpPr>
        <p:spPr>
          <a:xfrm>
            <a:off x="8229600" y="2468880"/>
            <a:ext cx="338328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Tested on MariaDB 10.4 (XAMPP)</a:t>
            </a:r>
            <a:endParaRPr lang="en-US" sz="1400" dirty="0"/>
          </a:p>
          <a:p>
            <a:pPr marL="342900" indent="-342900">
              <a:spcAft>
                <a:spcPts val="1000"/>
              </a:spcAft>
              <a:buSzPct val="100000"/>
              <a:buChar char="•"/>
            </a:pPr>
            <a:r>
              <a:rPr lang="en-US" sz="1400" dirty="0">
                <a:solidFill>
                  <a:schemeClr val="tx1"/>
                </a:solidFill>
              </a:rPr>
              <a:t>12 tables on InnoDB with foreign keys and CHECK constraints</a:t>
            </a:r>
            <a:endParaRPr lang="en-US" sz="1400" dirty="0"/>
          </a:p>
          <a:p>
            <a:pPr marL="342900" indent="-342900">
              <a:spcAft>
                <a:spcPts val="1000"/>
              </a:spcAft>
              <a:buSzPct val="100000"/>
              <a:buChar char="•"/>
            </a:pPr>
            <a:r>
              <a:rPr lang="en-US" sz="1400" dirty="0">
                <a:solidFill>
                  <a:schemeClr val="tx1"/>
                </a:solidFill>
              </a:rPr>
              <a:t>8 MySQL users: 7 roles plus login</a:t>
            </a:r>
            <a:endParaRPr lang="en-US" sz="1400" dirty="0"/>
          </a:p>
          <a:p>
            <a:pPr marL="342900" indent="-342900">
              <a:spcAft>
                <a:spcPts val="1000"/>
              </a:spcAft>
              <a:buSzPct val="100000"/>
              <a:buChar char="•"/>
            </a:pPr>
            <a:r>
              <a:rPr lang="en-US" sz="1400" dirty="0">
                <a:solidFill>
                  <a:schemeClr val="tx1"/>
                </a:solidFill>
              </a:rPr>
              <a:t>Stored procedure resubmit_ticket</a:t>
            </a:r>
            <a:endParaRPr lang="en-US" sz="1400" dirty="0"/>
          </a:p>
        </p:txBody>
      </p:sp>
      <p:sp>
        <p:nvSpPr>
          <p:cNvPr id="17" name="flow-arrow"/>
          <p:cNvSpPr/>
          <p:nvPr/>
        </p:nvSpPr>
        <p:spPr>
          <a:xfrm>
            <a:off x="4005072" y="1673352"/>
            <a:ext cx="310896" cy="0"/>
          </a:xfrm>
          <a:prstGeom prst="line">
            <a:avLst/>
          </a:prstGeom>
          <a:noFill/>
          <a:ln w="19050">
            <a:solidFill>
              <a:schemeClr val="accent1"/>
            </a:solidFill>
            <a:prstDash val="solid"/>
            <a:tailEnd type="triangle"/>
          </a:ln>
        </p:spPr>
      </p:sp>
      <p:sp>
        <p:nvSpPr>
          <p:cNvPr id="18" name="flow-arrow"/>
          <p:cNvSpPr/>
          <p:nvPr/>
        </p:nvSpPr>
        <p:spPr>
          <a:xfrm>
            <a:off x="7845552" y="1673352"/>
            <a:ext cx="310896" cy="0"/>
          </a:xfrm>
          <a:prstGeom prst="line">
            <a:avLst/>
          </a:prstGeom>
          <a:noFill/>
          <a:ln w="19050">
            <a:solidFill>
              <a:schemeClr val="accent1"/>
            </a:solidFill>
            <a:prstDash val="solid"/>
            <a:tailEnd type="triangle"/>
          </a:ln>
        </p:spPr>
      </p:sp>
      <p:sp>
        <p:nvSpPr>
          <p:cNvPr id="19" name="strip-rule"/>
          <p:cNvSpPr/>
          <p:nvPr/>
        </p:nvSpPr>
        <p:spPr>
          <a:xfrm>
            <a:off x="548640" y="5623560"/>
            <a:ext cx="11094415" cy="0"/>
          </a:xfrm>
          <a:prstGeom prst="line">
            <a:avLst/>
          </a:prstGeom>
          <a:noFill/>
          <a:ln w="9525">
            <a:solidFill>
              <a:schemeClr val="tx1"/>
            </a:solidFill>
            <a:prstDash val="solid"/>
          </a:ln>
        </p:spPr>
      </p:sp>
      <p:sp>
        <p:nvSpPr>
          <p:cNvPr id="20" name="flow-note"/>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dirty="0">
                <a:solidFill>
                  <a:schemeClr val="tx1"/>
                </a:solidFill>
              </a:rPr>
              <a:t>Browser to server: </a:t>
            </a:r>
            <a:pPr indent="0" marL="0">
              <a:buNone/>
            </a:pPr>
            <a:r>
              <a:rPr lang="en-US" sz="1400" b="1" dirty="0">
                <a:solidFill>
                  <a:schemeClr val="tx1"/>
                </a:solidFill>
              </a:rPr>
              <a:t>JSON over HTTP</a:t>
            </a:r>
            <a:pPr indent="0" marL="0">
              <a:buNone/>
            </a:pPr>
            <a:r>
              <a:rPr lang="en-US" sz="1400" dirty="0">
                <a:solidFill>
                  <a:schemeClr val="tx1"/>
                </a:solidFill>
              </a:rPr>
              <a:t>.     Server to database: </a:t>
            </a:r>
            <a:pPr indent="0" marL="0">
              <a:buNone/>
            </a:pPr>
            <a:r>
              <a:rPr lang="en-US" sz="1400" b="1" dirty="0">
                <a:solidFill>
                  <a:schemeClr val="tx1"/>
                </a:solidFill>
              </a:rPr>
              <a:t>SQL as the signed-in role’s own MySQL user</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How one click travels</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Example: the Boss approves a ticket</a:t>
            </a:r>
            <a:endParaRPr lang="en-US" sz="1200" dirty="0"/>
          </a:p>
        </p:txBody>
      </p:sp>
      <p:sp>
        <p:nvSpPr>
          <p:cNvPr id="5" name="step-rule"/>
          <p:cNvSpPr/>
          <p:nvPr/>
        </p:nvSpPr>
        <p:spPr>
          <a:xfrm>
            <a:off x="548640" y="1737360"/>
            <a:ext cx="2072579" cy="0"/>
          </a:xfrm>
          <a:prstGeom prst="line">
            <a:avLst/>
          </a:prstGeom>
          <a:noFill/>
          <a:ln w="9525">
            <a:solidFill>
              <a:schemeClr val="tx1"/>
            </a:solidFill>
            <a:prstDash val="solid"/>
          </a:ln>
        </p:spPr>
      </p:sp>
      <p:sp>
        <p:nvSpPr>
          <p:cNvPr id="6" name="step-no"/>
          <p:cNvSpPr txBox="1"/>
          <p:nvPr/>
        </p:nvSpPr>
        <p:spPr>
          <a:xfrm>
            <a:off x="548640" y="1874520"/>
            <a:ext cx="548640" cy="27432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7" name="step-head"/>
          <p:cNvSpPr txBox="1"/>
          <p:nvPr/>
        </p:nvSpPr>
        <p:spPr>
          <a:xfrm>
            <a:off x="548640" y="2240280"/>
            <a:ext cx="2072579" cy="731520"/>
          </a:xfrm>
          <a:prstGeom prst="rect">
            <a:avLst/>
          </a:prstGeom>
          <a:noFill/>
          <a:ln/>
        </p:spPr>
        <p:txBody>
          <a:bodyPr wrap="square" lIns="0" tIns="0" rIns="0" bIns="0" rtlCol="0" anchor="t"/>
          <a:lstStyle/>
          <a:p>
            <a:pPr indent="0" marL="0">
              <a:buNone/>
            </a:pPr>
            <a:r>
              <a:rPr lang="en-US" sz="1700" b="1" dirty="0">
                <a:solidFill>
                  <a:schemeClr val="tx1"/>
                </a:solidFill>
              </a:rPr>
              <a:t>Boss clicks Approve</a:t>
            </a:r>
            <a:endParaRPr lang="en-US" sz="1700" dirty="0"/>
          </a:p>
        </p:txBody>
      </p:sp>
      <p:sp>
        <p:nvSpPr>
          <p:cNvPr id="8" name="step-body"/>
          <p:cNvSpPr txBox="1"/>
          <p:nvPr/>
        </p:nvSpPr>
        <p:spPr>
          <a:xfrm>
            <a:off x="548640" y="3063240"/>
            <a:ext cx="2072579" cy="1737360"/>
          </a:xfrm>
          <a:prstGeom prst="rect">
            <a:avLst/>
          </a:prstGeom>
          <a:noFill/>
          <a:ln/>
        </p:spPr>
        <p:txBody>
          <a:bodyPr wrap="square" lIns="0" tIns="0" rIns="0" bIns="0" rtlCol="0" anchor="t"/>
          <a:lstStyle/>
          <a:p>
            <a:pPr indent="0" marL="0">
              <a:buNone/>
            </a:pPr>
            <a:r>
              <a:rPr lang="en-US" sz="1300" dirty="0">
                <a:solidFill>
                  <a:schemeClr val="tx2"/>
                </a:solidFill>
              </a:rPr>
              <a:t>on a ticket in the Requests list</a:t>
            </a:r>
            <a:endParaRPr lang="en-US" sz="1300" dirty="0"/>
          </a:p>
        </p:txBody>
      </p:sp>
      <p:sp>
        <p:nvSpPr>
          <p:cNvPr id="9" name="step-rule"/>
          <p:cNvSpPr/>
          <p:nvPr/>
        </p:nvSpPr>
        <p:spPr>
          <a:xfrm>
            <a:off x="2804099" y="1737360"/>
            <a:ext cx="2072579" cy="0"/>
          </a:xfrm>
          <a:prstGeom prst="line">
            <a:avLst/>
          </a:prstGeom>
          <a:noFill/>
          <a:ln w="9525">
            <a:solidFill>
              <a:schemeClr val="tx1"/>
            </a:solidFill>
            <a:prstDash val="solid"/>
          </a:ln>
        </p:spPr>
      </p:sp>
      <p:sp>
        <p:nvSpPr>
          <p:cNvPr id="10" name="step-no"/>
          <p:cNvSpPr txBox="1"/>
          <p:nvPr/>
        </p:nvSpPr>
        <p:spPr>
          <a:xfrm>
            <a:off x="2804099" y="1874520"/>
            <a:ext cx="548640" cy="27432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1" name="step-head"/>
          <p:cNvSpPr txBox="1"/>
          <p:nvPr/>
        </p:nvSpPr>
        <p:spPr>
          <a:xfrm>
            <a:off x="2804099" y="2240280"/>
            <a:ext cx="2072579" cy="731520"/>
          </a:xfrm>
          <a:prstGeom prst="rect">
            <a:avLst/>
          </a:prstGeom>
          <a:noFill/>
          <a:ln/>
        </p:spPr>
        <p:txBody>
          <a:bodyPr wrap="square" lIns="0" tIns="0" rIns="0" bIns="0" rtlCol="0" anchor="t"/>
          <a:lstStyle/>
          <a:p>
            <a:pPr indent="0" marL="0">
              <a:buNone/>
            </a:pPr>
            <a:r>
              <a:rPr lang="en-US" sz="1700" b="1" dirty="0">
                <a:solidFill>
                  <a:schemeClr val="tx1"/>
                </a:solidFill>
              </a:rPr>
              <a:t>Browser sends the request</a:t>
            </a:r>
            <a:endParaRPr lang="en-US" sz="1700" dirty="0"/>
          </a:p>
        </p:txBody>
      </p:sp>
      <p:sp>
        <p:nvSpPr>
          <p:cNvPr id="12" name="step-body"/>
          <p:cNvSpPr txBox="1"/>
          <p:nvPr/>
        </p:nvSpPr>
        <p:spPr>
          <a:xfrm>
            <a:off x="2804099" y="3063240"/>
            <a:ext cx="2072579" cy="1737360"/>
          </a:xfrm>
          <a:prstGeom prst="rect">
            <a:avLst/>
          </a:prstGeom>
          <a:noFill/>
          <a:ln/>
        </p:spPr>
        <p:txBody>
          <a:bodyPr wrap="square" lIns="0" tIns="0" rIns="0" bIns="0" rtlCol="0" anchor="t"/>
          <a:lstStyle/>
          <a:p>
            <a:pPr indent="0" marL="0">
              <a:buNone/>
            </a:pPr>
            <a:r>
              <a:rPr lang="en-US" sz="1300" dirty="0">
                <a:solidFill>
                  <a:schemeClr val="tx2"/>
                </a:solidFill>
              </a:rPr>
              <a:t>PATCH /api/tickets/1/decision with the login token</a:t>
            </a:r>
            <a:endParaRPr lang="en-US" sz="1300" dirty="0"/>
          </a:p>
        </p:txBody>
      </p:sp>
      <p:sp>
        <p:nvSpPr>
          <p:cNvPr id="13" name="step-rule"/>
          <p:cNvSpPr/>
          <p:nvPr/>
        </p:nvSpPr>
        <p:spPr>
          <a:xfrm>
            <a:off x="5059558" y="1737360"/>
            <a:ext cx="2072579" cy="0"/>
          </a:xfrm>
          <a:prstGeom prst="line">
            <a:avLst/>
          </a:prstGeom>
          <a:noFill/>
          <a:ln w="9525">
            <a:solidFill>
              <a:schemeClr val="tx1"/>
            </a:solidFill>
            <a:prstDash val="solid"/>
          </a:ln>
        </p:spPr>
      </p:sp>
      <p:sp>
        <p:nvSpPr>
          <p:cNvPr id="14" name="step-no"/>
          <p:cNvSpPr txBox="1"/>
          <p:nvPr/>
        </p:nvSpPr>
        <p:spPr>
          <a:xfrm>
            <a:off x="5059558" y="1874520"/>
            <a:ext cx="548640" cy="274320"/>
          </a:xfrm>
          <a:prstGeom prst="rect">
            <a:avLst/>
          </a:prstGeom>
          <a:noFill/>
          <a:ln/>
        </p:spPr>
        <p:txBody>
          <a:bodyPr wrap="square" lIns="0" tIns="0" rIns="0" bIns="0" rtlCol="0" anchor="t"/>
          <a:lstStyle/>
          <a:p>
            <a:pPr indent="0" marL="0">
              <a:buNone/>
            </a:pPr>
            <a:r>
              <a:rPr lang="en-US" sz="1300" b="1" dirty="0">
                <a:solidFill>
                  <a:schemeClr val="accent1"/>
                </a:solidFill>
              </a:rPr>
              <a:t>03</a:t>
            </a:r>
            <a:endParaRPr lang="en-US" sz="1300" dirty="0"/>
          </a:p>
        </p:txBody>
      </p:sp>
      <p:sp>
        <p:nvSpPr>
          <p:cNvPr id="15" name="step-head"/>
          <p:cNvSpPr txBox="1"/>
          <p:nvPr/>
        </p:nvSpPr>
        <p:spPr>
          <a:xfrm>
            <a:off x="5059558" y="2240280"/>
            <a:ext cx="2072579" cy="731520"/>
          </a:xfrm>
          <a:prstGeom prst="rect">
            <a:avLst/>
          </a:prstGeom>
          <a:noFill/>
          <a:ln/>
        </p:spPr>
        <p:txBody>
          <a:bodyPr wrap="square" lIns="0" tIns="0" rIns="0" bIns="0" rtlCol="0" anchor="t"/>
          <a:lstStyle/>
          <a:p>
            <a:pPr indent="0" marL="0">
              <a:buNone/>
            </a:pPr>
            <a:r>
              <a:rPr lang="en-US" sz="1700" b="1" dirty="0">
                <a:solidFill>
                  <a:schemeClr val="tx1"/>
                </a:solidFill>
              </a:rPr>
              <a:t>Express picks the user</a:t>
            </a:r>
            <a:endParaRPr lang="en-US" sz="1700" dirty="0"/>
          </a:p>
        </p:txBody>
      </p:sp>
      <p:sp>
        <p:nvSpPr>
          <p:cNvPr id="16" name="step-body"/>
          <p:cNvSpPr txBox="1"/>
          <p:nvPr/>
        </p:nvSpPr>
        <p:spPr>
          <a:xfrm>
            <a:off x="5059558" y="3063240"/>
            <a:ext cx="2072579" cy="1737360"/>
          </a:xfrm>
          <a:prstGeom prst="rect">
            <a:avLst/>
          </a:prstGeom>
          <a:noFill/>
          <a:ln/>
        </p:spPr>
        <p:txBody>
          <a:bodyPr wrap="square" lIns="0" tIns="0" rIns="0" bIns="0" rtlCol="0" anchor="t"/>
          <a:lstStyle/>
          <a:p>
            <a:pPr indent="0" marL="0">
              <a:buNone/>
            </a:pPr>
            <a:r>
              <a:rPr lang="en-US" sz="1300" dirty="0">
                <a:solidFill>
                  <a:schemeClr val="tx2"/>
                </a:solidFill>
              </a:rPr>
              <a:t>The token says role = boss, so queries use the rsci_boss pool</a:t>
            </a:r>
            <a:endParaRPr lang="en-US" sz="1300" dirty="0"/>
          </a:p>
        </p:txBody>
      </p:sp>
      <p:sp>
        <p:nvSpPr>
          <p:cNvPr id="17" name="step-rule"/>
          <p:cNvSpPr/>
          <p:nvPr/>
        </p:nvSpPr>
        <p:spPr>
          <a:xfrm>
            <a:off x="7315017" y="1737360"/>
            <a:ext cx="2072579" cy="0"/>
          </a:xfrm>
          <a:prstGeom prst="line">
            <a:avLst/>
          </a:prstGeom>
          <a:noFill/>
          <a:ln w="9525">
            <a:solidFill>
              <a:schemeClr val="tx1"/>
            </a:solidFill>
            <a:prstDash val="solid"/>
          </a:ln>
        </p:spPr>
      </p:sp>
      <p:sp>
        <p:nvSpPr>
          <p:cNvPr id="18" name="step-no"/>
          <p:cNvSpPr txBox="1"/>
          <p:nvPr/>
        </p:nvSpPr>
        <p:spPr>
          <a:xfrm>
            <a:off x="7315017" y="1874520"/>
            <a:ext cx="548640" cy="274320"/>
          </a:xfrm>
          <a:prstGeom prst="rect">
            <a:avLst/>
          </a:prstGeom>
          <a:noFill/>
          <a:ln/>
        </p:spPr>
        <p:txBody>
          <a:bodyPr wrap="square" lIns="0" tIns="0" rIns="0" bIns="0" rtlCol="0" anchor="t"/>
          <a:lstStyle/>
          <a:p>
            <a:pPr indent="0" marL="0">
              <a:buNone/>
            </a:pPr>
            <a:r>
              <a:rPr lang="en-US" sz="1300" b="1" dirty="0">
                <a:solidFill>
                  <a:schemeClr val="accent1"/>
                </a:solidFill>
              </a:rPr>
              <a:t>04</a:t>
            </a:r>
            <a:endParaRPr lang="en-US" sz="1300" dirty="0"/>
          </a:p>
        </p:txBody>
      </p:sp>
      <p:sp>
        <p:nvSpPr>
          <p:cNvPr id="19" name="step-head"/>
          <p:cNvSpPr txBox="1"/>
          <p:nvPr/>
        </p:nvSpPr>
        <p:spPr>
          <a:xfrm>
            <a:off x="7315017" y="2240280"/>
            <a:ext cx="2072579" cy="731520"/>
          </a:xfrm>
          <a:prstGeom prst="rect">
            <a:avLst/>
          </a:prstGeom>
          <a:noFill/>
          <a:ln/>
        </p:spPr>
        <p:txBody>
          <a:bodyPr wrap="square" lIns="0" tIns="0" rIns="0" bIns="0" rtlCol="0" anchor="t"/>
          <a:lstStyle/>
          <a:p>
            <a:pPr indent="0" marL="0">
              <a:buNone/>
            </a:pPr>
            <a:r>
              <a:rPr lang="en-US" sz="1700" b="1" dirty="0">
                <a:solidFill>
                  <a:schemeClr val="tx1"/>
                </a:solidFill>
              </a:rPr>
              <a:t>One transaction</a:t>
            </a:r>
            <a:endParaRPr lang="en-US" sz="1700" dirty="0"/>
          </a:p>
        </p:txBody>
      </p:sp>
      <p:sp>
        <p:nvSpPr>
          <p:cNvPr id="20" name="step-body"/>
          <p:cNvSpPr txBox="1"/>
          <p:nvPr/>
        </p:nvSpPr>
        <p:spPr>
          <a:xfrm>
            <a:off x="7315017" y="3063240"/>
            <a:ext cx="2072579" cy="1737360"/>
          </a:xfrm>
          <a:prstGeom prst="rect">
            <a:avLst/>
          </a:prstGeom>
          <a:noFill/>
          <a:ln/>
        </p:spPr>
        <p:txBody>
          <a:bodyPr wrap="square" lIns="0" tIns="0" rIns="0" bIns="0" rtlCol="0" anchor="t"/>
          <a:lstStyle/>
          <a:p>
            <a:pPr indent="0" marL="0">
              <a:buNone/>
            </a:pPr>
            <a:r>
              <a:rPr lang="en-US" sz="1300" dirty="0">
                <a:solidFill>
                  <a:schemeClr val="tx2"/>
                </a:solidFill>
              </a:rPr>
              <a:t>UPDATE tickets ... WHERE status = 'Pending Boss Approval', then an activity_log row, then COMMIT</a:t>
            </a:r>
            <a:endParaRPr lang="en-US" sz="1300" dirty="0"/>
          </a:p>
        </p:txBody>
      </p:sp>
      <p:sp>
        <p:nvSpPr>
          <p:cNvPr id="21" name="step-rule"/>
          <p:cNvSpPr/>
          <p:nvPr/>
        </p:nvSpPr>
        <p:spPr>
          <a:xfrm>
            <a:off x="9570476" y="1737360"/>
            <a:ext cx="2072579" cy="0"/>
          </a:xfrm>
          <a:prstGeom prst="line">
            <a:avLst/>
          </a:prstGeom>
          <a:noFill/>
          <a:ln w="9525">
            <a:solidFill>
              <a:schemeClr val="tx1"/>
            </a:solidFill>
            <a:prstDash val="solid"/>
          </a:ln>
        </p:spPr>
      </p:sp>
      <p:sp>
        <p:nvSpPr>
          <p:cNvPr id="22" name="step-no"/>
          <p:cNvSpPr txBox="1"/>
          <p:nvPr/>
        </p:nvSpPr>
        <p:spPr>
          <a:xfrm>
            <a:off x="9570476" y="1874520"/>
            <a:ext cx="548640" cy="274320"/>
          </a:xfrm>
          <a:prstGeom prst="rect">
            <a:avLst/>
          </a:prstGeom>
          <a:noFill/>
          <a:ln/>
        </p:spPr>
        <p:txBody>
          <a:bodyPr wrap="square" lIns="0" tIns="0" rIns="0" bIns="0" rtlCol="0" anchor="t"/>
          <a:lstStyle/>
          <a:p>
            <a:pPr indent="0" marL="0">
              <a:buNone/>
            </a:pPr>
            <a:r>
              <a:rPr lang="en-US" sz="1300" b="1" dirty="0">
                <a:solidFill>
                  <a:schemeClr val="accent1"/>
                </a:solidFill>
              </a:rPr>
              <a:t>05</a:t>
            </a:r>
            <a:endParaRPr lang="en-US" sz="1300" dirty="0"/>
          </a:p>
        </p:txBody>
      </p:sp>
      <p:sp>
        <p:nvSpPr>
          <p:cNvPr id="23" name="step-head"/>
          <p:cNvSpPr txBox="1"/>
          <p:nvPr/>
        </p:nvSpPr>
        <p:spPr>
          <a:xfrm>
            <a:off x="9570476" y="2240280"/>
            <a:ext cx="2072579" cy="731520"/>
          </a:xfrm>
          <a:prstGeom prst="rect">
            <a:avLst/>
          </a:prstGeom>
          <a:noFill/>
          <a:ln/>
        </p:spPr>
        <p:txBody>
          <a:bodyPr wrap="square" lIns="0" tIns="0" rIns="0" bIns="0" rtlCol="0" anchor="t"/>
          <a:lstStyle/>
          <a:p>
            <a:pPr indent="0" marL="0">
              <a:buNone/>
            </a:pPr>
            <a:r>
              <a:rPr lang="en-US" sz="1700" b="1" dirty="0">
                <a:solidFill>
                  <a:schemeClr val="tx1"/>
                </a:solidFill>
              </a:rPr>
              <a:t>MySQL checks the grant</a:t>
            </a:r>
            <a:endParaRPr lang="en-US" sz="1700" dirty="0"/>
          </a:p>
        </p:txBody>
      </p:sp>
      <p:sp>
        <p:nvSpPr>
          <p:cNvPr id="24" name="step-body"/>
          <p:cNvSpPr txBox="1"/>
          <p:nvPr/>
        </p:nvSpPr>
        <p:spPr>
          <a:xfrm>
            <a:off x="9570476" y="3063240"/>
            <a:ext cx="2072579" cy="1737360"/>
          </a:xfrm>
          <a:prstGeom prst="rect">
            <a:avLst/>
          </a:prstGeom>
          <a:noFill/>
          <a:ln/>
        </p:spPr>
        <p:txBody>
          <a:bodyPr wrap="square" lIns="0" tIns="0" rIns="0" bIns="0" rtlCol="0" anchor="t"/>
          <a:lstStyle/>
          <a:p>
            <a:pPr indent="0" marL="0">
              <a:buNone/>
            </a:pPr>
            <a:r>
              <a:rPr lang="en-US" sz="1300" dirty="0">
                <a:solidFill>
                  <a:schemeClr val="tx2"/>
                </a:solidFill>
              </a:rPr>
              <a:t>rsci_boss may update that column. JSON goes back and the screen refreshes</a:t>
            </a:r>
            <a:endParaRPr lang="en-US" sz="1300" dirty="0"/>
          </a:p>
        </p:txBody>
      </p:sp>
      <p:sp>
        <p:nvSpPr>
          <p:cNvPr id="25" name="note-rule"/>
          <p:cNvSpPr/>
          <p:nvPr/>
        </p:nvSpPr>
        <p:spPr>
          <a:xfrm>
            <a:off x="548640" y="5120640"/>
            <a:ext cx="11094415" cy="0"/>
          </a:xfrm>
          <a:prstGeom prst="line">
            <a:avLst/>
          </a:prstGeom>
          <a:noFill/>
          <a:ln w="9525">
            <a:solidFill>
              <a:schemeClr val="tx1"/>
            </a:solidFill>
            <a:prstDash val="solid"/>
          </a:ln>
        </p:spPr>
      </p:sp>
      <p:sp>
        <p:nvSpPr>
          <p:cNvPr id="26" name="click-note"/>
          <p:cNvSpPr txBox="1"/>
          <p:nvPr/>
        </p:nvSpPr>
        <p:spPr>
          <a:xfrm>
            <a:off x="548640" y="5303520"/>
            <a:ext cx="11094415" cy="731520"/>
          </a:xfrm>
          <a:prstGeom prst="rect">
            <a:avLst/>
          </a:prstGeom>
          <a:noFill/>
          <a:ln/>
        </p:spPr>
        <p:txBody>
          <a:bodyPr wrap="square" lIns="0" tIns="0" rIns="0" bIns="0" rtlCol="0" anchor="t"/>
          <a:lstStyle/>
          <a:p>
            <a:pPr indent="0" marL="0">
              <a:buNone/>
            </a:pPr>
            <a:r>
              <a:rPr lang="en-US" sz="1800" b="1" dirty="0">
                <a:solidFill>
                  <a:schemeClr val="tx1"/>
                </a:solidFill>
              </a:rPr>
              <a:t>Nothing in the browser touches the database directly. Every click goes through the server, and the server speaks to MySQL as that person’s role.</a:t>
            </a:r>
            <a:endParaRPr lang="en-US" sz="18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One request, nine steps</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6 · 15 points</a:t>
            </a:r>
            <a:endParaRPr lang="en-US" sz="1200" dirty="0"/>
          </a:p>
        </p:txBody>
      </p:sp>
      <p:graphicFrame>
        <p:nvGraphicFramePr>
          <p:cNvPr id="8" name="pipelin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7200"/>
                <a:gridCol w="1691640"/>
                <a:gridCol w="4846320"/>
                <a:gridCol w="4099255"/>
              </a:tblGrid>
              <a:tr h="457200">
                <a:tc>
                  <a:txBody>
                    <a:bodyPr/>
                    <a:lstStyle/>
                    <a:p>
                      <a:pPr algn="ctr" indent="0" marL="0">
                        <a:buNone/>
                      </a:pPr>
                      <a:r>
                        <a:rPr lang="en-US" sz="1350" b="1" dirty="0">
                          <a:solidFill>
                            <a:schemeClr val="tx1"/>
                          </a:solidFill>
                        </a:rPr>
                        <a:t>#</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50" b="1" dirty="0">
                          <a:solidFill>
                            <a:schemeClr val="tx1"/>
                          </a:solidFill>
                        </a:rPr>
                        <a:t>Who</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50" b="1" dirty="0">
                          <a:solidFill>
                            <a:schemeClr val="tx1"/>
                          </a:solidFill>
                        </a:rPr>
                        <a:t>What they do</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50" b="1" dirty="0">
                          <a:solidFill>
                            <a:schemeClr val="tx1"/>
                          </a:solidFill>
                        </a:rPr>
                        <a:t>What the system shows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457200">
                <a:tc>
                  <a:txBody>
                    <a:bodyPr/>
                    <a:lstStyle/>
                    <a:p>
                      <a:pPr algn="ctr" indent="0" marL="0">
                        <a:buNone/>
                      </a:pPr>
                      <a:r>
                        <a:rPr lang="en-US" sz="1350" dirty="0">
                          <a:solidFill>
                            <a:schemeClr val="tx1"/>
                          </a:solidFill>
                        </a:rPr>
                        <a:t>1</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Engineer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Submits a ticket: project, date needed, materials with a stock check, Preview, Confirm</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Ticket is Pending Boss Approval</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2</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Boss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Rejects it and types a reason</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Status Rejected, reason visible</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3</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Engineer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Edit &amp; resubmit</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Back with the Boss, "resubmitted 1x"</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4</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Boss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Approves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Ticket is Approved for PO</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5</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PO Officer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Creates a P.O. with a unique number and prices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P.O. is Pending Approval</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6</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Boss or OM</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Approves the P.O.</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P.O. is Approved</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7</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Accountant</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Confirms purchased, enters a check number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Payment recorded, posted to Expenses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8</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Inventory</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Receives into stock</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Stock up, movement logged, ticket Completed</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57200">
                <a:tc>
                  <a:txBody>
                    <a:bodyPr/>
                    <a:lstStyle/>
                    <a:p>
                      <a:pPr algn="ctr" indent="0" marL="0">
                        <a:buNone/>
                      </a:pPr>
                      <a:r>
                        <a:rPr lang="en-US" sz="1350" dirty="0">
                          <a:solidFill>
                            <a:schemeClr val="tx1"/>
                          </a:solidFill>
                        </a:rPr>
                        <a:t>9</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Administrator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Opens the Activity Log</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Every step with who and when; nothing editable</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2. Transaction management</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2 · 15 points</a:t>
            </a:r>
            <a:endParaRPr lang="en-US" sz="1200" dirty="0"/>
          </a:p>
        </p:txBody>
      </p:sp>
      <p:sp>
        <p:nvSpPr>
          <p:cNvPr id="5" name="acid-rule"/>
          <p:cNvSpPr/>
          <p:nvPr/>
        </p:nvSpPr>
        <p:spPr>
          <a:xfrm>
            <a:off x="548640" y="1417320"/>
            <a:ext cx="5852160" cy="0"/>
          </a:xfrm>
          <a:prstGeom prst="line">
            <a:avLst/>
          </a:prstGeom>
          <a:noFill/>
          <a:ln w="9525">
            <a:solidFill>
              <a:schemeClr val="tx1"/>
            </a:solidFill>
            <a:prstDash val="solid"/>
          </a:ln>
        </p:spPr>
      </p:sp>
      <p:sp>
        <p:nvSpPr>
          <p:cNvPr id="6" name="acid-letter"/>
          <p:cNvSpPr txBox="1"/>
          <p:nvPr/>
        </p:nvSpPr>
        <p:spPr>
          <a:xfrm>
            <a:off x="548640" y="1527048"/>
            <a:ext cx="640080" cy="822960"/>
          </a:xfrm>
          <a:prstGeom prst="rect">
            <a:avLst/>
          </a:prstGeom>
          <a:noFill/>
          <a:ln/>
        </p:spPr>
        <p:txBody>
          <a:bodyPr wrap="square" lIns="0" tIns="0" rIns="0" bIns="0" rtlCol="0" anchor="t"/>
          <a:lstStyle/>
          <a:p>
            <a:pPr indent="0" marL="0">
              <a:buNone/>
            </a:pPr>
            <a:r>
              <a:rPr lang="en-US" sz="4000" b="1" dirty="0">
                <a:solidFill>
                  <a:schemeClr val="accent1"/>
                </a:solidFill>
              </a:rPr>
              <a:t>A</a:t>
            </a:r>
            <a:endParaRPr lang="en-US" sz="4000" dirty="0"/>
          </a:p>
        </p:txBody>
      </p:sp>
      <p:sp>
        <p:nvSpPr>
          <p:cNvPr id="7" name="acid-name"/>
          <p:cNvSpPr txBox="1"/>
          <p:nvPr/>
        </p:nvSpPr>
        <p:spPr>
          <a:xfrm>
            <a:off x="1325880" y="1545336"/>
            <a:ext cx="5029200" cy="274320"/>
          </a:xfrm>
          <a:prstGeom prst="rect">
            <a:avLst/>
          </a:prstGeom>
          <a:noFill/>
          <a:ln/>
        </p:spPr>
        <p:txBody>
          <a:bodyPr wrap="square" lIns="0" tIns="0" rIns="0" bIns="0" rtlCol="0" anchor="t"/>
          <a:lstStyle/>
          <a:p>
            <a:pPr indent="0" marL="0">
              <a:buNone/>
            </a:pPr>
            <a:r>
              <a:rPr lang="en-US" sz="1600" b="1" dirty="0">
                <a:solidFill>
                  <a:schemeClr val="tx1"/>
                </a:solidFill>
              </a:rPr>
              <a:t>Atomicity</a:t>
            </a:r>
            <a:endParaRPr lang="en-US" sz="1600" dirty="0"/>
          </a:p>
        </p:txBody>
      </p:sp>
      <p:sp>
        <p:nvSpPr>
          <p:cNvPr id="8" name="acid-text"/>
          <p:cNvSpPr txBox="1"/>
          <p:nvPr/>
        </p:nvSpPr>
        <p:spPr>
          <a:xfrm>
            <a:off x="1325880" y="1874520"/>
            <a:ext cx="5029200" cy="685800"/>
          </a:xfrm>
          <a:prstGeom prst="rect">
            <a:avLst/>
          </a:prstGeom>
          <a:noFill/>
          <a:ln/>
        </p:spPr>
        <p:txBody>
          <a:bodyPr wrap="square" lIns="0" tIns="0" rIns="0" bIns="0" rtlCol="0" anchor="t"/>
          <a:lstStyle/>
          <a:p>
            <a:pPr indent="0" marL="0">
              <a:buNone/>
            </a:pPr>
            <a:r>
              <a:rPr lang="en-US" sz="1250" dirty="0">
                <a:solidFill>
                  <a:schemeClr val="tx2"/>
                </a:solidFill>
              </a:rPr>
              <a:t>All steps or none. A failed step undoes the earlier ones: ROLLBACK.</a:t>
            </a:r>
            <a:endParaRPr lang="en-US" sz="1250" dirty="0"/>
          </a:p>
        </p:txBody>
      </p:sp>
      <p:sp>
        <p:nvSpPr>
          <p:cNvPr id="9" name="acid-rule"/>
          <p:cNvSpPr/>
          <p:nvPr/>
        </p:nvSpPr>
        <p:spPr>
          <a:xfrm>
            <a:off x="548640" y="2606040"/>
            <a:ext cx="5852160" cy="0"/>
          </a:xfrm>
          <a:prstGeom prst="line">
            <a:avLst/>
          </a:prstGeom>
          <a:noFill/>
          <a:ln w="9525">
            <a:solidFill>
              <a:schemeClr val="tx1"/>
            </a:solidFill>
            <a:prstDash val="solid"/>
          </a:ln>
        </p:spPr>
      </p:sp>
      <p:sp>
        <p:nvSpPr>
          <p:cNvPr id="10" name="acid-letter"/>
          <p:cNvSpPr txBox="1"/>
          <p:nvPr/>
        </p:nvSpPr>
        <p:spPr>
          <a:xfrm>
            <a:off x="548640" y="2715768"/>
            <a:ext cx="640080" cy="822960"/>
          </a:xfrm>
          <a:prstGeom prst="rect">
            <a:avLst/>
          </a:prstGeom>
          <a:noFill/>
          <a:ln/>
        </p:spPr>
        <p:txBody>
          <a:bodyPr wrap="square" lIns="0" tIns="0" rIns="0" bIns="0" rtlCol="0" anchor="t"/>
          <a:lstStyle/>
          <a:p>
            <a:pPr indent="0" marL="0">
              <a:buNone/>
            </a:pPr>
            <a:r>
              <a:rPr lang="en-US" sz="4000" b="1" dirty="0">
                <a:solidFill>
                  <a:schemeClr val="accent1"/>
                </a:solidFill>
              </a:rPr>
              <a:t>C</a:t>
            </a:r>
            <a:endParaRPr lang="en-US" sz="4000" dirty="0"/>
          </a:p>
        </p:txBody>
      </p:sp>
      <p:sp>
        <p:nvSpPr>
          <p:cNvPr id="11" name="acid-name"/>
          <p:cNvSpPr txBox="1"/>
          <p:nvPr/>
        </p:nvSpPr>
        <p:spPr>
          <a:xfrm>
            <a:off x="1325880" y="2734056"/>
            <a:ext cx="5029200" cy="274320"/>
          </a:xfrm>
          <a:prstGeom prst="rect">
            <a:avLst/>
          </a:prstGeom>
          <a:noFill/>
          <a:ln/>
        </p:spPr>
        <p:txBody>
          <a:bodyPr wrap="square" lIns="0" tIns="0" rIns="0" bIns="0" rtlCol="0" anchor="t"/>
          <a:lstStyle/>
          <a:p>
            <a:pPr indent="0" marL="0">
              <a:buNone/>
            </a:pPr>
            <a:r>
              <a:rPr lang="en-US" sz="1600" b="1" dirty="0">
                <a:solidFill>
                  <a:schemeClr val="tx1"/>
                </a:solidFill>
              </a:rPr>
              <a:t>Consistency</a:t>
            </a:r>
            <a:endParaRPr lang="en-US" sz="1600" dirty="0"/>
          </a:p>
        </p:txBody>
      </p:sp>
      <p:sp>
        <p:nvSpPr>
          <p:cNvPr id="12" name="acid-text"/>
          <p:cNvSpPr txBox="1"/>
          <p:nvPr/>
        </p:nvSpPr>
        <p:spPr>
          <a:xfrm>
            <a:off x="1325880" y="3063240"/>
            <a:ext cx="5029200" cy="685800"/>
          </a:xfrm>
          <a:prstGeom prst="rect">
            <a:avLst/>
          </a:prstGeom>
          <a:noFill/>
          <a:ln/>
        </p:spPr>
        <p:txBody>
          <a:bodyPr wrap="square" lIns="0" tIns="0" rIns="0" bIns="0" rtlCol="0" anchor="t"/>
          <a:lstStyle/>
          <a:p>
            <a:pPr indent="0" marL="0">
              <a:buNone/>
            </a:pPr>
            <a:r>
              <a:rPr lang="en-US" sz="1250" dirty="0">
                <a:solidFill>
                  <a:schemeClr val="tx2"/>
                </a:solidFill>
              </a:rPr>
              <a:t>The database enforces the rules: foreign keys, unique P.O. number, CHECK (qty &gt; 0), CHECK (qty_on_hand &gt;= 0).</a:t>
            </a:r>
            <a:endParaRPr lang="en-US" sz="1250" dirty="0"/>
          </a:p>
        </p:txBody>
      </p:sp>
      <p:sp>
        <p:nvSpPr>
          <p:cNvPr id="13" name="acid-rule"/>
          <p:cNvSpPr/>
          <p:nvPr/>
        </p:nvSpPr>
        <p:spPr>
          <a:xfrm>
            <a:off x="548640" y="3794760"/>
            <a:ext cx="5852160" cy="0"/>
          </a:xfrm>
          <a:prstGeom prst="line">
            <a:avLst/>
          </a:prstGeom>
          <a:noFill/>
          <a:ln w="9525">
            <a:solidFill>
              <a:schemeClr val="tx1"/>
            </a:solidFill>
            <a:prstDash val="solid"/>
          </a:ln>
        </p:spPr>
      </p:sp>
      <p:sp>
        <p:nvSpPr>
          <p:cNvPr id="14" name="acid-letter"/>
          <p:cNvSpPr txBox="1"/>
          <p:nvPr/>
        </p:nvSpPr>
        <p:spPr>
          <a:xfrm>
            <a:off x="548640" y="3904488"/>
            <a:ext cx="640080" cy="822960"/>
          </a:xfrm>
          <a:prstGeom prst="rect">
            <a:avLst/>
          </a:prstGeom>
          <a:noFill/>
          <a:ln/>
        </p:spPr>
        <p:txBody>
          <a:bodyPr wrap="square" lIns="0" tIns="0" rIns="0" bIns="0" rtlCol="0" anchor="t"/>
          <a:lstStyle/>
          <a:p>
            <a:pPr indent="0" marL="0">
              <a:buNone/>
            </a:pPr>
            <a:r>
              <a:rPr lang="en-US" sz="4000" b="1" dirty="0">
                <a:solidFill>
                  <a:schemeClr val="accent1"/>
                </a:solidFill>
              </a:rPr>
              <a:t>I</a:t>
            </a:r>
            <a:endParaRPr lang="en-US" sz="4000" dirty="0"/>
          </a:p>
        </p:txBody>
      </p:sp>
      <p:sp>
        <p:nvSpPr>
          <p:cNvPr id="15" name="acid-name"/>
          <p:cNvSpPr txBox="1"/>
          <p:nvPr/>
        </p:nvSpPr>
        <p:spPr>
          <a:xfrm>
            <a:off x="1325880" y="3922776"/>
            <a:ext cx="5029200" cy="274320"/>
          </a:xfrm>
          <a:prstGeom prst="rect">
            <a:avLst/>
          </a:prstGeom>
          <a:noFill/>
          <a:ln/>
        </p:spPr>
        <p:txBody>
          <a:bodyPr wrap="square" lIns="0" tIns="0" rIns="0" bIns="0" rtlCol="0" anchor="t"/>
          <a:lstStyle/>
          <a:p>
            <a:pPr indent="0" marL="0">
              <a:buNone/>
            </a:pPr>
            <a:r>
              <a:rPr lang="en-US" sz="1600" b="1" dirty="0">
                <a:solidFill>
                  <a:schemeClr val="tx1"/>
                </a:solidFill>
              </a:rPr>
              <a:t>Isolation</a:t>
            </a:r>
            <a:endParaRPr lang="en-US" sz="1600" dirty="0"/>
          </a:p>
        </p:txBody>
      </p:sp>
      <p:sp>
        <p:nvSpPr>
          <p:cNvPr id="16" name="acid-text"/>
          <p:cNvSpPr txBox="1"/>
          <p:nvPr/>
        </p:nvSpPr>
        <p:spPr>
          <a:xfrm>
            <a:off x="1325880" y="4251960"/>
            <a:ext cx="5029200" cy="685800"/>
          </a:xfrm>
          <a:prstGeom prst="rect">
            <a:avLst/>
          </a:prstGeom>
          <a:noFill/>
          <a:ln/>
        </p:spPr>
        <p:txBody>
          <a:bodyPr wrap="square" lIns="0" tIns="0" rIns="0" bIns="0" rtlCol="0" anchor="t"/>
          <a:lstStyle/>
          <a:p>
            <a:pPr indent="0" marL="0">
              <a:buNone/>
            </a:pPr>
            <a:r>
              <a:rPr lang="en-US" sz="1250" dirty="0">
                <a:solidFill>
                  <a:schemeClr val="tx2"/>
                </a:solidFill>
              </a:rPr>
              <a:t>A guarded UPDATE ... WHERE status = '...' takes a row lock, so two people cannot both approve.</a:t>
            </a:r>
            <a:endParaRPr lang="en-US" sz="1250" dirty="0"/>
          </a:p>
        </p:txBody>
      </p:sp>
      <p:sp>
        <p:nvSpPr>
          <p:cNvPr id="17" name="acid-rule"/>
          <p:cNvSpPr/>
          <p:nvPr/>
        </p:nvSpPr>
        <p:spPr>
          <a:xfrm>
            <a:off x="548640" y="4983480"/>
            <a:ext cx="5852160" cy="0"/>
          </a:xfrm>
          <a:prstGeom prst="line">
            <a:avLst/>
          </a:prstGeom>
          <a:noFill/>
          <a:ln w="9525">
            <a:solidFill>
              <a:schemeClr val="tx1"/>
            </a:solidFill>
            <a:prstDash val="solid"/>
          </a:ln>
        </p:spPr>
      </p:sp>
      <p:sp>
        <p:nvSpPr>
          <p:cNvPr id="18" name="acid-letter"/>
          <p:cNvSpPr txBox="1"/>
          <p:nvPr/>
        </p:nvSpPr>
        <p:spPr>
          <a:xfrm>
            <a:off x="548640" y="5093208"/>
            <a:ext cx="640080" cy="822960"/>
          </a:xfrm>
          <a:prstGeom prst="rect">
            <a:avLst/>
          </a:prstGeom>
          <a:noFill/>
          <a:ln/>
        </p:spPr>
        <p:txBody>
          <a:bodyPr wrap="square" lIns="0" tIns="0" rIns="0" bIns="0" rtlCol="0" anchor="t"/>
          <a:lstStyle/>
          <a:p>
            <a:pPr indent="0" marL="0">
              <a:buNone/>
            </a:pPr>
            <a:r>
              <a:rPr lang="en-US" sz="4000" b="1" dirty="0">
                <a:solidFill>
                  <a:schemeClr val="accent1"/>
                </a:solidFill>
              </a:rPr>
              <a:t>D</a:t>
            </a:r>
            <a:endParaRPr lang="en-US" sz="4000" dirty="0"/>
          </a:p>
        </p:txBody>
      </p:sp>
      <p:sp>
        <p:nvSpPr>
          <p:cNvPr id="19" name="acid-name"/>
          <p:cNvSpPr txBox="1"/>
          <p:nvPr/>
        </p:nvSpPr>
        <p:spPr>
          <a:xfrm>
            <a:off x="1325880" y="5111496"/>
            <a:ext cx="5029200" cy="274320"/>
          </a:xfrm>
          <a:prstGeom prst="rect">
            <a:avLst/>
          </a:prstGeom>
          <a:noFill/>
          <a:ln/>
        </p:spPr>
        <p:txBody>
          <a:bodyPr wrap="square" lIns="0" tIns="0" rIns="0" bIns="0" rtlCol="0" anchor="t"/>
          <a:lstStyle/>
          <a:p>
            <a:pPr indent="0" marL="0">
              <a:buNone/>
            </a:pPr>
            <a:r>
              <a:rPr lang="en-US" sz="1600" b="1" dirty="0">
                <a:solidFill>
                  <a:schemeClr val="tx1"/>
                </a:solidFill>
              </a:rPr>
              <a:t>Durability</a:t>
            </a:r>
            <a:endParaRPr lang="en-US" sz="1600" dirty="0"/>
          </a:p>
        </p:txBody>
      </p:sp>
      <p:sp>
        <p:nvSpPr>
          <p:cNvPr id="20" name="acid-text"/>
          <p:cNvSpPr txBox="1"/>
          <p:nvPr/>
        </p:nvSpPr>
        <p:spPr>
          <a:xfrm>
            <a:off x="1325880" y="5440680"/>
            <a:ext cx="5029200" cy="685800"/>
          </a:xfrm>
          <a:prstGeom prst="rect">
            <a:avLst/>
          </a:prstGeom>
          <a:noFill/>
          <a:ln/>
        </p:spPr>
        <p:txBody>
          <a:bodyPr wrap="square" lIns="0" tIns="0" rIns="0" bIns="0" rtlCol="0" anchor="t"/>
          <a:lstStyle/>
          <a:p>
            <a:pPr indent="0" marL="0">
              <a:buNone/>
            </a:pPr>
            <a:r>
              <a:rPr lang="en-US" sz="1250" dirty="0">
                <a:solidFill>
                  <a:schemeClr val="tx2"/>
                </a:solidFill>
              </a:rPr>
              <a:t>Committed data survives a restart (InnoDB redo log).</a:t>
            </a:r>
            <a:endParaRPr lang="en-US" sz="1250" dirty="0"/>
          </a:p>
        </p:txBody>
      </p:sp>
      <p:sp>
        <p:nvSpPr>
          <p:cNvPr id="21" name="flow-label"/>
          <p:cNvSpPr txBox="1"/>
          <p:nvPr/>
        </p:nvSpPr>
        <p:spPr>
          <a:xfrm>
            <a:off x="6858000" y="1417320"/>
            <a:ext cx="4785055" cy="274320"/>
          </a:xfrm>
          <a:prstGeom prst="rect">
            <a:avLst/>
          </a:prstGeom>
          <a:noFill/>
          <a:ln/>
        </p:spPr>
        <p:txBody>
          <a:bodyPr wrap="square" lIns="0" tIns="0" rIns="0" bIns="0" rtlCol="0" anchor="t"/>
          <a:lstStyle/>
          <a:p>
            <a:pPr indent="0" marL="0">
              <a:buNone/>
            </a:pPr>
            <a:r>
              <a:rPr lang="en-US" sz="1300" b="1" dirty="0">
                <a:solidFill>
                  <a:schemeClr val="accent1"/>
                </a:solidFill>
              </a:rPr>
              <a:t>Confirm purchased is one transaction</a:t>
            </a:r>
            <a:endParaRPr lang="en-US" sz="1300" dirty="0"/>
          </a:p>
        </p:txBody>
      </p:sp>
      <p:sp>
        <p:nvSpPr>
          <p:cNvPr id="22" name="flow-box"/>
          <p:cNvSpPr/>
          <p:nvPr/>
        </p:nvSpPr>
        <p:spPr>
          <a:xfrm>
            <a:off x="6858000" y="1828800"/>
            <a:ext cx="4785055" cy="548640"/>
          </a:xfrm>
          <a:prstGeom prst="rect">
            <a:avLst/>
          </a:prstGeom>
          <a:ln w="9525">
            <a:solidFill>
              <a:schemeClr val="tx1"/>
            </a:solidFill>
            <a:prstDash val="solid"/>
          </a:ln>
        </p:spPr>
      </p:sp>
      <p:sp>
        <p:nvSpPr>
          <p:cNvPr id="23" name="flow-text"/>
          <p:cNvSpPr txBox="1"/>
          <p:nvPr/>
        </p:nvSpPr>
        <p:spPr>
          <a:xfrm>
            <a:off x="6995160" y="1828800"/>
            <a:ext cx="4480560" cy="548640"/>
          </a:xfrm>
          <a:prstGeom prst="rect">
            <a:avLst/>
          </a:prstGeom>
          <a:noFill/>
          <a:ln/>
        </p:spPr>
        <p:txBody>
          <a:bodyPr wrap="square" lIns="0" tIns="0" rIns="0" bIns="0" rtlCol="0" anchor="ctr"/>
          <a:lstStyle/>
          <a:p>
            <a:pPr indent="0" marL="0">
              <a:buNone/>
            </a:pPr>
            <a:r>
              <a:rPr lang="en-US" sz="1300" b="1" dirty="0">
                <a:solidFill>
                  <a:schemeClr val="tx1"/>
                </a:solidFill>
              </a:rPr>
              <a:t>START TRANSACTION</a:t>
            </a:r>
            <a:endParaRPr lang="en-US" sz="1300" dirty="0"/>
          </a:p>
        </p:txBody>
      </p:sp>
      <p:sp>
        <p:nvSpPr>
          <p:cNvPr id="24" name="flow-link"/>
          <p:cNvSpPr/>
          <p:nvPr/>
        </p:nvSpPr>
        <p:spPr>
          <a:xfrm>
            <a:off x="9235440" y="2377440"/>
            <a:ext cx="0" cy="228600"/>
          </a:xfrm>
          <a:prstGeom prst="line">
            <a:avLst/>
          </a:prstGeom>
          <a:noFill/>
          <a:ln w="9525">
            <a:solidFill>
              <a:schemeClr val="tx1"/>
            </a:solidFill>
            <a:prstDash val="solid"/>
          </a:ln>
        </p:spPr>
      </p:sp>
      <p:sp>
        <p:nvSpPr>
          <p:cNvPr id="25" name="flow-box"/>
          <p:cNvSpPr/>
          <p:nvPr/>
        </p:nvSpPr>
        <p:spPr>
          <a:xfrm>
            <a:off x="6858000" y="2606040"/>
            <a:ext cx="4785055" cy="548640"/>
          </a:xfrm>
          <a:prstGeom prst="rect">
            <a:avLst/>
          </a:prstGeom>
          <a:ln w="9525">
            <a:solidFill>
              <a:schemeClr val="tx1"/>
            </a:solidFill>
            <a:prstDash val="solid"/>
          </a:ln>
        </p:spPr>
      </p:sp>
      <p:sp>
        <p:nvSpPr>
          <p:cNvPr id="26" name="flow-text"/>
          <p:cNvSpPr txBox="1"/>
          <p:nvPr/>
        </p:nvSpPr>
        <p:spPr>
          <a:xfrm>
            <a:off x="6995160" y="2606040"/>
            <a:ext cx="4480560" cy="548640"/>
          </a:xfrm>
          <a:prstGeom prst="rect">
            <a:avLst/>
          </a:prstGeom>
          <a:noFill/>
          <a:ln/>
        </p:spPr>
        <p:txBody>
          <a:bodyPr wrap="square" lIns="0" tIns="0" rIns="0" bIns="0" rtlCol="0" anchor="ctr"/>
          <a:lstStyle/>
          <a:p>
            <a:pPr indent="0" marL="0">
              <a:buNone/>
            </a:pPr>
            <a:r>
              <a:rPr lang="en-US" sz="1300" dirty="0">
                <a:solidFill>
                  <a:schemeClr val="tx1"/>
                </a:solidFill>
              </a:rPr>
              <a:t>INSERT payment (check number encrypted)</a:t>
            </a:r>
            <a:endParaRPr lang="en-US" sz="1300" dirty="0"/>
          </a:p>
        </p:txBody>
      </p:sp>
      <p:sp>
        <p:nvSpPr>
          <p:cNvPr id="27" name="flow-link"/>
          <p:cNvSpPr/>
          <p:nvPr/>
        </p:nvSpPr>
        <p:spPr>
          <a:xfrm>
            <a:off x="9235440" y="3154680"/>
            <a:ext cx="0" cy="228600"/>
          </a:xfrm>
          <a:prstGeom prst="line">
            <a:avLst/>
          </a:prstGeom>
          <a:noFill/>
          <a:ln w="9525">
            <a:solidFill>
              <a:schemeClr val="tx1"/>
            </a:solidFill>
            <a:prstDash val="solid"/>
          </a:ln>
        </p:spPr>
      </p:sp>
      <p:sp>
        <p:nvSpPr>
          <p:cNvPr id="28" name="flow-box"/>
          <p:cNvSpPr/>
          <p:nvPr/>
        </p:nvSpPr>
        <p:spPr>
          <a:xfrm>
            <a:off x="6858000" y="3383280"/>
            <a:ext cx="4785055" cy="548640"/>
          </a:xfrm>
          <a:prstGeom prst="rect">
            <a:avLst/>
          </a:prstGeom>
          <a:ln w="9525">
            <a:solidFill>
              <a:schemeClr val="tx1"/>
            </a:solidFill>
            <a:prstDash val="solid"/>
          </a:ln>
        </p:spPr>
      </p:sp>
      <p:sp>
        <p:nvSpPr>
          <p:cNvPr id="29" name="flow-text"/>
          <p:cNvSpPr txBox="1"/>
          <p:nvPr/>
        </p:nvSpPr>
        <p:spPr>
          <a:xfrm>
            <a:off x="6995160" y="3383280"/>
            <a:ext cx="4480560" cy="548640"/>
          </a:xfrm>
          <a:prstGeom prst="rect">
            <a:avLst/>
          </a:prstGeom>
          <a:noFill/>
          <a:ln/>
        </p:spPr>
        <p:txBody>
          <a:bodyPr wrap="square" lIns="0" tIns="0" rIns="0" bIns="0" rtlCol="0" anchor="ctr"/>
          <a:lstStyle/>
          <a:p>
            <a:pPr indent="0" marL="0">
              <a:buNone/>
            </a:pPr>
            <a:r>
              <a:rPr lang="en-US" sz="1300" dirty="0">
                <a:solidFill>
                  <a:schemeClr val="tx1"/>
                </a:solidFill>
              </a:rPr>
              <a:t>INSERT expense</a:t>
            </a:r>
            <a:endParaRPr lang="en-US" sz="1300" dirty="0"/>
          </a:p>
        </p:txBody>
      </p:sp>
      <p:sp>
        <p:nvSpPr>
          <p:cNvPr id="30" name="flow-link"/>
          <p:cNvSpPr/>
          <p:nvPr/>
        </p:nvSpPr>
        <p:spPr>
          <a:xfrm>
            <a:off x="9235440" y="3931920"/>
            <a:ext cx="0" cy="228600"/>
          </a:xfrm>
          <a:prstGeom prst="line">
            <a:avLst/>
          </a:prstGeom>
          <a:noFill/>
          <a:ln w="9525">
            <a:solidFill>
              <a:schemeClr val="tx1"/>
            </a:solidFill>
            <a:prstDash val="solid"/>
          </a:ln>
        </p:spPr>
      </p:sp>
      <p:sp>
        <p:nvSpPr>
          <p:cNvPr id="31" name="flow-box"/>
          <p:cNvSpPr/>
          <p:nvPr/>
        </p:nvSpPr>
        <p:spPr>
          <a:xfrm>
            <a:off x="6858000" y="4160520"/>
            <a:ext cx="4785055" cy="548640"/>
          </a:xfrm>
          <a:prstGeom prst="rect">
            <a:avLst/>
          </a:prstGeom>
          <a:ln w="9525">
            <a:solidFill>
              <a:schemeClr val="tx1"/>
            </a:solidFill>
            <a:prstDash val="solid"/>
          </a:ln>
        </p:spPr>
      </p:sp>
      <p:sp>
        <p:nvSpPr>
          <p:cNvPr id="32" name="flow-text"/>
          <p:cNvSpPr txBox="1"/>
          <p:nvPr/>
        </p:nvSpPr>
        <p:spPr>
          <a:xfrm>
            <a:off x="6995160" y="4160520"/>
            <a:ext cx="4480560" cy="548640"/>
          </a:xfrm>
          <a:prstGeom prst="rect">
            <a:avLst/>
          </a:prstGeom>
          <a:noFill/>
          <a:ln/>
        </p:spPr>
        <p:txBody>
          <a:bodyPr wrap="square" lIns="0" tIns="0" rIns="0" bIns="0" rtlCol="0" anchor="ctr"/>
          <a:lstStyle/>
          <a:p>
            <a:pPr indent="0" marL="0">
              <a:buNone/>
            </a:pPr>
            <a:r>
              <a:rPr lang="en-US" sz="1300" dirty="0">
                <a:solidFill>
                  <a:schemeClr val="tx1"/>
                </a:solidFill>
              </a:rPr>
              <a:t>UPDATE purchase order to Purchased</a:t>
            </a:r>
            <a:endParaRPr lang="en-US" sz="1300" dirty="0"/>
          </a:p>
        </p:txBody>
      </p:sp>
      <p:sp>
        <p:nvSpPr>
          <p:cNvPr id="33" name="flow-link"/>
          <p:cNvSpPr/>
          <p:nvPr/>
        </p:nvSpPr>
        <p:spPr>
          <a:xfrm>
            <a:off x="9235440" y="4709160"/>
            <a:ext cx="0" cy="228600"/>
          </a:xfrm>
          <a:prstGeom prst="line">
            <a:avLst/>
          </a:prstGeom>
          <a:noFill/>
          <a:ln w="9525">
            <a:solidFill>
              <a:schemeClr val="tx1"/>
            </a:solidFill>
            <a:prstDash val="solid"/>
          </a:ln>
        </p:spPr>
      </p:sp>
      <p:sp>
        <p:nvSpPr>
          <p:cNvPr id="34" name="commit-box"/>
          <p:cNvSpPr/>
          <p:nvPr/>
        </p:nvSpPr>
        <p:spPr>
          <a:xfrm>
            <a:off x="6858000" y="4937760"/>
            <a:ext cx="2286000" cy="868680"/>
          </a:xfrm>
          <a:prstGeom prst="rect">
            <a:avLst/>
          </a:prstGeom>
          <a:solidFill>
            <a:schemeClr val="bg2"/>
          </a:solidFill>
          <a:ln w="12700">
            <a:solidFill>
              <a:schemeClr val="accent3"/>
            </a:solidFill>
            <a:prstDash val="solid"/>
          </a:ln>
        </p:spPr>
      </p:sp>
      <p:sp>
        <p:nvSpPr>
          <p:cNvPr id="35" name="commit-text"/>
          <p:cNvSpPr txBox="1"/>
          <p:nvPr/>
        </p:nvSpPr>
        <p:spPr>
          <a:xfrm>
            <a:off x="6995160" y="4937760"/>
            <a:ext cx="2011680" cy="868680"/>
          </a:xfrm>
          <a:prstGeom prst="rect">
            <a:avLst/>
          </a:prstGeom>
          <a:noFill/>
          <a:ln/>
        </p:spPr>
        <p:txBody>
          <a:bodyPr wrap="square" lIns="0" tIns="0" rIns="0" bIns="0" rtlCol="0" anchor="ctr"/>
          <a:lstStyle/>
          <a:p>
            <a:pPr indent="0" marL="0">
              <a:buNone/>
            </a:pPr>
            <a:r>
              <a:rPr lang="en-US" sz="1250" b="1" dirty="0">
                <a:solidFill>
                  <a:schemeClr val="accent3"/>
                </a:solidFill>
              </a:rPr>
              <a:t>COMMIT</a:t>
            </a:r>
            <a:endParaRPr lang="en-US" sz="1250" dirty="0"/>
          </a:p>
          <a:p>
            <a:pPr indent="0" marL="0">
              <a:buNone/>
            </a:pPr>
            <a:r>
              <a:rPr lang="en-US" sz="1250" dirty="0">
                <a:solidFill>
                  <a:schemeClr val="tx1"/>
                </a:solidFill>
              </a:rPr>
              <a:t>all three are saved</a:t>
            </a:r>
            <a:endParaRPr lang="en-US" sz="1250" dirty="0"/>
          </a:p>
        </p:txBody>
      </p:sp>
      <p:sp>
        <p:nvSpPr>
          <p:cNvPr id="36" name="rollback-box"/>
          <p:cNvSpPr/>
          <p:nvPr/>
        </p:nvSpPr>
        <p:spPr>
          <a:xfrm>
            <a:off x="9357055" y="4937760"/>
            <a:ext cx="2286000" cy="868680"/>
          </a:xfrm>
          <a:prstGeom prst="rect">
            <a:avLst/>
          </a:prstGeom>
          <a:solidFill>
            <a:schemeClr val="bg2"/>
          </a:solidFill>
          <a:ln w="12700">
            <a:solidFill>
              <a:schemeClr val="accent5"/>
            </a:solidFill>
            <a:prstDash val="solid"/>
          </a:ln>
        </p:spPr>
      </p:sp>
      <p:sp>
        <p:nvSpPr>
          <p:cNvPr id="37" name="rollback-text"/>
          <p:cNvSpPr txBox="1"/>
          <p:nvPr/>
        </p:nvSpPr>
        <p:spPr>
          <a:xfrm>
            <a:off x="9494215" y="4937760"/>
            <a:ext cx="2011680" cy="868680"/>
          </a:xfrm>
          <a:prstGeom prst="rect">
            <a:avLst/>
          </a:prstGeom>
          <a:noFill/>
          <a:ln/>
        </p:spPr>
        <p:txBody>
          <a:bodyPr wrap="square" lIns="0" tIns="0" rIns="0" bIns="0" rtlCol="0" anchor="ctr"/>
          <a:lstStyle/>
          <a:p>
            <a:pPr indent="0" marL="0">
              <a:buNone/>
            </a:pPr>
            <a:r>
              <a:rPr lang="en-US" sz="1250" b="1" dirty="0">
                <a:solidFill>
                  <a:schemeClr val="accent5"/>
                </a:solidFill>
              </a:rPr>
              <a:t>ROLLBACK on any error</a:t>
            </a:r>
            <a:endParaRPr lang="en-US" sz="1250" dirty="0"/>
          </a:p>
          <a:p>
            <a:pPr indent="0" marL="0">
              <a:buNone/>
            </a:pPr>
            <a:r>
              <a:rPr lang="en-US" sz="1250" dirty="0">
                <a:solidFill>
                  <a:schemeClr val="tx1"/>
                </a:solidFill>
              </a:rPr>
              <a:t>none are saved</a:t>
            </a:r>
            <a:endParaRPr lang="en-US" sz="125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Seeing a transaction work</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2 · 15 points</a:t>
            </a:r>
            <a:endParaRPr lang="en-US" sz="1200" dirty="0"/>
          </a:p>
        </p:txBody>
      </p:sp>
      <p:sp>
        <p:nvSpPr>
          <p:cNvPr id="5" name="web-label"/>
          <p:cNvSpPr txBox="1"/>
          <p:nvPr/>
        </p:nvSpPr>
        <p:spPr>
          <a:xfrm>
            <a:off x="548640" y="1417320"/>
            <a:ext cx="4754880" cy="274320"/>
          </a:xfrm>
          <a:prstGeom prst="rect">
            <a:avLst/>
          </a:prstGeom>
          <a:noFill/>
          <a:ln/>
        </p:spPr>
        <p:txBody>
          <a:bodyPr wrap="square" lIns="0" tIns="0" rIns="0" bIns="0" rtlCol="0" anchor="t"/>
          <a:lstStyle/>
          <a:p>
            <a:pPr indent="0" marL="0">
              <a:buNone/>
            </a:pPr>
            <a:r>
              <a:rPr lang="en-US" sz="1300" b="1" dirty="0">
                <a:solidFill>
                  <a:schemeClr val="accent1"/>
                </a:solidFill>
              </a:rPr>
              <a:t>In the web app</a:t>
            </a:r>
            <a:endParaRPr lang="en-US" sz="1300" dirty="0"/>
          </a:p>
        </p:txBody>
      </p:sp>
      <p:sp>
        <p:nvSpPr>
          <p:cNvPr id="6" name="web-list"/>
          <p:cNvSpPr txBox="1"/>
          <p:nvPr/>
        </p:nvSpPr>
        <p:spPr>
          <a:xfrm>
            <a:off x="548640" y="1783080"/>
            <a:ext cx="475488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Tick "Simulate failure before COMMIT", then save anything</a:t>
            </a:r>
            <a:endParaRPr lang="en-US" sz="1500" dirty="0"/>
          </a:p>
          <a:p>
            <a:pPr marL="342900" indent="-342900">
              <a:spcAft>
                <a:spcPts val="900"/>
              </a:spcAft>
              <a:buSzPct val="100000"/>
              <a:buChar char="•"/>
            </a:pPr>
            <a:r>
              <a:rPr lang="en-US" sz="1500" dirty="0">
                <a:solidFill>
                  <a:schemeClr val="tx1"/>
                </a:solidFill>
              </a:rPr>
              <a:t>Every statement runs, then the server throws before COMMIT</a:t>
            </a:r>
            <a:endParaRPr lang="en-US" sz="1500" dirty="0"/>
          </a:p>
          <a:p>
            <a:pPr marL="342900" indent="-342900">
              <a:spcAft>
                <a:spcPts val="900"/>
              </a:spcAft>
              <a:buSzPct val="100000"/>
              <a:buChar char="•"/>
            </a:pPr>
            <a:r>
              <a:rPr lang="en-US" sz="1500" dirty="0">
                <a:solidFill>
                  <a:schemeClr val="tx1"/>
                </a:solidFill>
              </a:rPr>
              <a:t>The toast says "ROLLED BACK. Nothing was saved." and a refresh proves it</a:t>
            </a:r>
            <a:endParaRPr lang="en-US" sz="1500" dirty="0"/>
          </a:p>
          <a:p>
            <a:pPr marL="342900" indent="-342900">
              <a:spcAft>
                <a:spcPts val="900"/>
              </a:spcAft>
              <a:buSzPct val="100000"/>
              <a:buChar char="•"/>
            </a:pPr>
            <a:r>
              <a:rPr lang="en-US" sz="1500" dirty="0">
                <a:solidFill>
                  <a:schemeClr val="tx1"/>
                </a:solidFill>
              </a:rPr>
              <a:t>Reuse a P.O. number: duplicate key, and the ticket does not change</a:t>
            </a:r>
            <a:endParaRPr lang="en-US" sz="1500" dirty="0"/>
          </a:p>
          <a:p>
            <a:pPr marL="342900" indent="-342900">
              <a:spcAft>
                <a:spcPts val="900"/>
              </a:spcAft>
              <a:buSzPct val="100000"/>
              <a:buChar char="•"/>
            </a:pPr>
            <a:r>
              <a:rPr lang="en-US" sz="1500" dirty="0">
                <a:solidFill>
                  <a:schemeClr val="tx1"/>
                </a:solidFill>
              </a:rPr>
              <a:t>Stock out more than is on hand: "Not enough stock"</a:t>
            </a:r>
            <a:endParaRPr lang="en-US" sz="1500" dirty="0"/>
          </a:p>
          <a:p>
            <a:pPr marL="342900" indent="-342900">
              <a:spcAft>
                <a:spcPts val="900"/>
              </a:spcAft>
              <a:buSzPct val="100000"/>
              <a:buChar char="•"/>
            </a:pPr>
            <a:r>
              <a:rPr lang="en-US" sz="1500" dirty="0">
                <a:solidFill>
                  <a:schemeClr val="tx1"/>
                </a:solidFill>
              </a:rPr>
              <a:t>Double-click Approve: the second click is refused (isolation)</a:t>
            </a:r>
            <a:endParaRPr lang="en-US" sz="1500" dirty="0"/>
          </a:p>
        </p:txBody>
      </p:sp>
      <p:sp>
        <p:nvSpPr>
          <p:cNvPr id="7" name="sql-label"/>
          <p:cNvSpPr txBox="1"/>
          <p:nvPr/>
        </p:nvSpPr>
        <p:spPr>
          <a:xfrm>
            <a:off x="5669280" y="1417320"/>
            <a:ext cx="5943600" cy="274320"/>
          </a:xfrm>
          <a:prstGeom prst="rect">
            <a:avLst/>
          </a:prstGeom>
          <a:noFill/>
          <a:ln/>
        </p:spPr>
        <p:txBody>
          <a:bodyPr wrap="square" lIns="0" tIns="0" rIns="0" bIns="0" rtlCol="0" anchor="t"/>
          <a:lstStyle/>
          <a:p>
            <a:pPr indent="0" marL="0">
              <a:buNone/>
            </a:pPr>
            <a:r>
              <a:rPr lang="en-US" sz="1300" b="1" dirty="0">
                <a:solidFill>
                  <a:schemeClr val="accent1"/>
                </a:solidFill>
              </a:rPr>
              <a:t>In MySQL: sql/03_transactions_demo.sql</a:t>
            </a:r>
            <a:endParaRPr lang="en-US" sz="1300" dirty="0"/>
          </a:p>
        </p:txBody>
      </p:sp>
      <p:graphicFrame>
        <p:nvGraphicFramePr>
          <p:cNvPr id="10" name="sql03-table"/>
          <p:cNvGraphicFramePr>
            <a:graphicFrameLocks noGrp="1"/>
          </p:cNvGraphicFramePr>
          <p:nvPr>
            <p:extLst>
              <p:ext uri="{D42A27DB-BD31-4B8C-83A1-F6EECF244321}">
                <p14:modId xmlns:p14="http://schemas.microsoft.com/office/powerpoint/2010/main" val="1579011935"/>
              </p:ext>
            </p:extLst>
          </p:nvPr>
        </p:nvGraphicFramePr>
        <p:xfrm>
          <a:off x="5669280" y="1783080"/>
          <a:ext cx="5973775" cy="914400"/>
        </p:xfrm>
        <a:graphic>
          <a:graphicData uri="http://schemas.openxmlformats.org/drawingml/2006/table">
            <a:tbl>
              <a:tblPr/>
              <a:tblGrid>
                <a:gridCol w="822960"/>
                <a:gridCol w="5150815"/>
              </a:tblGrid>
              <a:tr h="566928">
                <a:tc>
                  <a:txBody>
                    <a:bodyPr/>
                    <a:lstStyle/>
                    <a:p>
                      <a:pPr algn="ctr" indent="0" marL="0">
                        <a:buNone/>
                      </a:pPr>
                      <a:r>
                        <a:rPr lang="en-US" sz="1350" b="1" dirty="0">
                          <a:solidFill>
                            <a:schemeClr val="tx1"/>
                          </a:solidFill>
                        </a:rPr>
                        <a:t>Section</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50" b="1" dirty="0">
                          <a:solidFill>
                            <a:schemeClr val="tx1"/>
                          </a:solidFill>
                        </a:rPr>
                        <a:t>What it proves</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566928">
                <a:tc>
                  <a:txBody>
                    <a:bodyPr/>
                    <a:lstStyle/>
                    <a:p>
                      <a:pPr algn="ctr" indent="0" marL="0">
                        <a:buNone/>
                      </a:pPr>
                      <a:r>
                        <a:rPr lang="en-US" sz="1350" dirty="0">
                          <a:solidFill>
                            <a:schemeClr val="tx1"/>
                          </a:solidFill>
                        </a:rPr>
                        <a:t>A</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COMMIT: ticket, P.O. and items saved together</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66928">
                <a:tc>
                  <a:txBody>
                    <a:bodyPr/>
                    <a:lstStyle/>
                    <a:p>
                      <a:pPr algn="ctr" indent="0" marL="0">
                        <a:buNone/>
                      </a:pPr>
                      <a:r>
                        <a:rPr lang="en-US" sz="1350" dirty="0">
                          <a:solidFill>
                            <a:schemeClr val="tx1"/>
                          </a:solidFill>
                        </a:rPr>
                        <a:t>B</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ROLLBACK: duplicate P.O. number fails, the ticket update is undone</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66928">
                <a:tc>
                  <a:txBody>
                    <a:bodyPr/>
                    <a:lstStyle/>
                    <a:p>
                      <a:pPr algn="ctr" indent="0" marL="0">
                        <a:buNone/>
                      </a:pPr>
                      <a:r>
                        <a:rPr lang="en-US" sz="1350" dirty="0">
                          <a:solidFill>
                            <a:schemeClr val="tx1"/>
                          </a:solidFill>
                        </a:rPr>
                        <a:t>C</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Isolation: two sessions, the second waits, then sees 0 rows affected</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66928">
                <a:tc>
                  <a:txBody>
                    <a:bodyPr/>
                    <a:lstStyle/>
                    <a:p>
                      <a:pPr algn="ctr" indent="0" marL="0">
                        <a:buNone/>
                      </a:pPr>
                      <a:r>
                        <a:rPr lang="en-US" sz="1350" dirty="0">
                          <a:solidFill>
                            <a:schemeClr val="tx1"/>
                          </a:solidFill>
                        </a:rPr>
                        <a:t>D</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Consistency: stock cannot go below zero (guard in the WHERE clause)</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66928">
                <a:tc>
                  <a:txBody>
                    <a:bodyPr/>
                    <a:lstStyle/>
                    <a:p>
                      <a:pPr algn="ctr" indent="0" marL="0">
                        <a:buNone/>
                      </a:pPr>
                      <a:r>
                        <a:rPr lang="en-US" sz="1350" dirty="0">
                          <a:solidFill>
                            <a:schemeClr val="tx1"/>
                          </a:solidFill>
                        </a:rPr>
                        <a:t>E</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50" dirty="0">
                          <a:solidFill>
                            <a:schemeClr val="tx1"/>
                          </a:solidFill>
                        </a:rPr>
                        <a:t>Stored procedure edit-and-resubmit inside a transaction</a:t>
                      </a:r>
                      <a:endParaRPr lang="en-US" sz="13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3. Database encryption</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3 · 15 points</a:t>
            </a:r>
            <a:endParaRPr lang="en-US" sz="1200" dirty="0"/>
          </a:p>
        </p:txBody>
      </p:sp>
      <p:graphicFrame>
        <p:nvGraphicFramePr>
          <p:cNvPr id="11" name="encryption-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2834640"/>
                <a:gridCol w="3200400"/>
                <a:gridCol w="3047695"/>
              </a:tblGrid>
              <a:tr h="512064">
                <a:tc>
                  <a:txBody>
                    <a:bodyPr/>
                    <a:lstStyle/>
                    <a:p>
                      <a:pPr algn="l" indent="0" marL="0">
                        <a:buNone/>
                      </a:pPr>
                      <a:r>
                        <a:rPr lang="en-US" sz="1400" b="1" dirty="0">
                          <a:solidFill>
                            <a:schemeClr val="tx1"/>
                          </a:solidFill>
                        </a:rPr>
                        <a:t>Sensitive data</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tx1"/>
                          </a:solidFill>
                        </a:rPr>
                        <a:t>Stored in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tx1"/>
                          </a:solidFill>
                        </a:rPr>
                        <a:t>Protection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tx1"/>
                          </a:solidFill>
                        </a:rPr>
                        <a:t>Who can read it</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512064">
                <a:tc>
                  <a:txBody>
                    <a:bodyPr/>
                    <a:lstStyle/>
                    <a:p>
                      <a:pPr algn="l" indent="0" marL="0">
                        <a:buNone/>
                      </a:pPr>
                      <a:r>
                        <a:rPr lang="en-US" sz="1400" b="1" dirty="0">
                          <a:solidFill>
                            <a:schemeClr val="tx1"/>
                          </a:solidFill>
                        </a:rPr>
                        <a:t>Passwords</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users.password_hash</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bcrypt hash, one-way</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No one. Checked at sign-in only</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12064">
                <a:tc>
                  <a:txBody>
                    <a:bodyPr/>
                    <a:lstStyle/>
                    <a:p>
                      <a:pPr algn="l" indent="0" marL="0">
                        <a:buNone/>
                      </a:pPr>
                      <a:r>
                        <a:rPr lang="en-US" sz="1400" b="1" dirty="0">
                          <a:solidFill>
                            <a:schemeClr val="tx1"/>
                          </a:solidFill>
                        </a:rPr>
                        <a:t>Vendor TIN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vendors.tin_enc</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AES_ENCRYPT in a VARBINARY column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Boss, PO Officer, Accountant</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12064">
                <a:tc>
                  <a:txBody>
                    <a:bodyPr/>
                    <a:lstStyle/>
                    <a:p>
                      <a:pPr algn="l" indent="0" marL="0">
                        <a:buNone/>
                      </a:pPr>
                      <a:r>
                        <a:rPr lang="en-US" sz="1400" b="1" dirty="0">
                          <a:solidFill>
                            <a:schemeClr val="tx1"/>
                          </a:solidFill>
                        </a:rPr>
                        <a:t>Check number</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payments.check_no_enc</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AES_ENCRYPT in a VARBINARY column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Boss, Accountant</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12064">
                <a:tc>
                  <a:txBody>
                    <a:bodyPr/>
                    <a:lstStyle/>
                    <a:p>
                      <a:pPr algn="l" indent="0" marL="0">
                        <a:buNone/>
                      </a:pPr>
                      <a:r>
                        <a:rPr lang="en-US" sz="1400" b="1" dirty="0">
                          <a:solidFill>
                            <a:schemeClr val="tx1"/>
                          </a:solidFill>
                        </a:rPr>
                        <a:t>Phone number</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users.phone_enc</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AES_ENCRYPT in a VARBINARY column</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400" dirty="0">
                          <a:solidFill>
                            <a:schemeClr val="tx1"/>
                          </a:solidFill>
                        </a:rPr>
                        <a:t>No app role (DBA only, in sql/06)</a:t>
                      </a:r>
                      <a:endParaRPr lang="en-US" sz="14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6" name="col-rule"/>
          <p:cNvSpPr/>
          <p:nvPr/>
        </p:nvSpPr>
        <p:spPr>
          <a:xfrm>
            <a:off x="548640" y="4343400"/>
            <a:ext cx="3383280" cy="0"/>
          </a:xfrm>
          <a:prstGeom prst="line">
            <a:avLst/>
          </a:prstGeom>
          <a:noFill/>
          <a:ln w="9525">
            <a:solidFill>
              <a:schemeClr val="tx1"/>
            </a:solidFill>
            <a:prstDash val="solid"/>
          </a:ln>
        </p:spPr>
      </p:sp>
      <p:sp>
        <p:nvSpPr>
          <p:cNvPr id="7" name="col-head"/>
          <p:cNvSpPr txBox="1"/>
          <p:nvPr/>
        </p:nvSpPr>
        <p:spPr>
          <a:xfrm>
            <a:off x="548640" y="4480560"/>
            <a:ext cx="3383280" cy="320040"/>
          </a:xfrm>
          <a:prstGeom prst="rect">
            <a:avLst/>
          </a:prstGeom>
          <a:noFill/>
          <a:ln/>
        </p:spPr>
        <p:txBody>
          <a:bodyPr wrap="square" lIns="0" tIns="0" rIns="0" bIns="0" rtlCol="0" anchor="t"/>
          <a:lstStyle/>
          <a:p>
            <a:pPr indent="0" marL="0">
              <a:buNone/>
            </a:pPr>
            <a:r>
              <a:rPr lang="en-US" sz="1400" b="1" dirty="0">
                <a:solidFill>
                  <a:schemeClr val="accent1"/>
                </a:solidFill>
              </a:rPr>
              <a:t>The key stays outside the database</a:t>
            </a:r>
            <a:endParaRPr lang="en-US" sz="1400" dirty="0"/>
          </a:p>
        </p:txBody>
      </p:sp>
      <p:sp>
        <p:nvSpPr>
          <p:cNvPr id="8" name="col-text"/>
          <p:cNvSpPr txBox="1"/>
          <p:nvPr/>
        </p:nvSpPr>
        <p:spPr>
          <a:xfrm>
            <a:off x="548640" y="4846320"/>
            <a:ext cx="3383280" cy="1463040"/>
          </a:xfrm>
          <a:prstGeom prst="rect">
            <a:avLst/>
          </a:prstGeom>
          <a:noFill/>
          <a:ln/>
        </p:spPr>
        <p:txBody>
          <a:bodyPr wrap="square" lIns="0" tIns="0" rIns="0" bIns="0" rtlCol="0" anchor="t"/>
          <a:lstStyle/>
          <a:p>
            <a:pPr indent="0" marL="0">
              <a:buNone/>
            </a:pPr>
            <a:r>
              <a:rPr lang="en-US" sz="1300" dirty="0">
                <a:solidFill>
                  <a:schemeClr val="tx1"/>
                </a:solidFill>
              </a:rPr>
              <a:t>ENC_KEY lives in the server’s .env file. A stolen copy of the database is unreadable without it.</a:t>
            </a:r>
            <a:endParaRPr lang="en-US" sz="1300" dirty="0"/>
          </a:p>
        </p:txBody>
      </p:sp>
      <p:sp>
        <p:nvSpPr>
          <p:cNvPr id="9" name="col-rule"/>
          <p:cNvSpPr/>
          <p:nvPr/>
        </p:nvSpPr>
        <p:spPr>
          <a:xfrm>
            <a:off x="4389120" y="4343400"/>
            <a:ext cx="3383280" cy="0"/>
          </a:xfrm>
          <a:prstGeom prst="line">
            <a:avLst/>
          </a:prstGeom>
          <a:noFill/>
          <a:ln w="9525">
            <a:solidFill>
              <a:schemeClr val="tx1"/>
            </a:solidFill>
            <a:prstDash val="solid"/>
          </a:ln>
        </p:spPr>
      </p:sp>
      <p:sp>
        <p:nvSpPr>
          <p:cNvPr id="10" name="col-head"/>
          <p:cNvSpPr txBox="1"/>
          <p:nvPr/>
        </p:nvSpPr>
        <p:spPr>
          <a:xfrm>
            <a:off x="4389120" y="4480560"/>
            <a:ext cx="3383280" cy="320040"/>
          </a:xfrm>
          <a:prstGeom prst="rect">
            <a:avLst/>
          </a:prstGeom>
          <a:noFill/>
          <a:ln/>
        </p:spPr>
        <p:txBody>
          <a:bodyPr wrap="square" lIns="0" tIns="0" rIns="0" bIns="0" rtlCol="0" anchor="t"/>
          <a:lstStyle/>
          <a:p>
            <a:pPr indent="0" marL="0">
              <a:buNone/>
            </a:pPr>
            <a:r>
              <a:rPr lang="en-US" sz="1400" b="1" dirty="0">
                <a:solidFill>
                  <a:schemeClr val="accent1"/>
                </a:solidFill>
              </a:rPr>
              <a:t>Shown in the web</a:t>
            </a:r>
            <a:endParaRPr lang="en-US" sz="1400" dirty="0"/>
          </a:p>
        </p:txBody>
      </p:sp>
      <p:sp>
        <p:nvSpPr>
          <p:cNvPr id="11" name="col-text"/>
          <p:cNvSpPr txBox="1"/>
          <p:nvPr/>
        </p:nvSpPr>
        <p:spPr>
          <a:xfrm>
            <a:off x="4389120" y="4846320"/>
            <a:ext cx="3383280" cy="1463040"/>
          </a:xfrm>
          <a:prstGeom prst="rect">
            <a:avLst/>
          </a:prstGeom>
          <a:noFill/>
          <a:ln/>
        </p:spPr>
        <p:txBody>
          <a:bodyPr wrap="square" lIns="0" tIns="0" rIns="0" bIns="0" rtlCol="0" anchor="t"/>
          <a:lstStyle/>
          <a:p>
            <a:pPr indent="0" marL="0">
              <a:buNone/>
            </a:pPr>
            <a:r>
              <a:rPr lang="en-US" sz="1300" dirty="0">
                <a:solidFill>
                  <a:schemeClr val="tx1"/>
                </a:solidFill>
              </a:rPr>
              <a:t>Vendors page, TIN column: decrypted for Boss, PO Officer and Accountant, Restricted for everyone else. A paid P.O. shows its check number only to Boss and Accountant.</a:t>
            </a:r>
            <a:endParaRPr lang="en-US" sz="1300" dirty="0"/>
          </a:p>
        </p:txBody>
      </p:sp>
      <p:sp>
        <p:nvSpPr>
          <p:cNvPr id="12" name="col-rule"/>
          <p:cNvSpPr/>
          <p:nvPr/>
        </p:nvSpPr>
        <p:spPr>
          <a:xfrm>
            <a:off x="8229600" y="4343400"/>
            <a:ext cx="3383280" cy="0"/>
          </a:xfrm>
          <a:prstGeom prst="line">
            <a:avLst/>
          </a:prstGeom>
          <a:noFill/>
          <a:ln w="9525">
            <a:solidFill>
              <a:schemeClr val="tx1"/>
            </a:solidFill>
            <a:prstDash val="solid"/>
          </a:ln>
        </p:spPr>
      </p:sp>
      <p:sp>
        <p:nvSpPr>
          <p:cNvPr id="13" name="col-head"/>
          <p:cNvSpPr txBox="1"/>
          <p:nvPr/>
        </p:nvSpPr>
        <p:spPr>
          <a:xfrm>
            <a:off x="8229600" y="4480560"/>
            <a:ext cx="3383280" cy="320040"/>
          </a:xfrm>
          <a:prstGeom prst="rect">
            <a:avLst/>
          </a:prstGeom>
          <a:noFill/>
          <a:ln/>
        </p:spPr>
        <p:txBody>
          <a:bodyPr wrap="square" lIns="0" tIns="0" rIns="0" bIns="0" rtlCol="0" anchor="t"/>
          <a:lstStyle/>
          <a:p>
            <a:pPr indent="0" marL="0">
              <a:buNone/>
            </a:pPr>
            <a:r>
              <a:rPr lang="en-US" sz="1400" b="1" dirty="0">
                <a:solidFill>
                  <a:schemeClr val="accent1"/>
                </a:solidFill>
              </a:rPr>
              <a:t>Shown in MySQL</a:t>
            </a:r>
            <a:endParaRPr lang="en-US" sz="1400" dirty="0"/>
          </a:p>
        </p:txBody>
      </p:sp>
      <p:sp>
        <p:nvSpPr>
          <p:cNvPr id="14" name="col-text"/>
          <p:cNvSpPr txBox="1"/>
          <p:nvPr/>
        </p:nvSpPr>
        <p:spPr>
          <a:xfrm>
            <a:off x="8229600" y="4846320"/>
            <a:ext cx="3383280" cy="1463040"/>
          </a:xfrm>
          <a:prstGeom prst="rect">
            <a:avLst/>
          </a:prstGeom>
          <a:noFill/>
          <a:ln/>
        </p:spPr>
        <p:txBody>
          <a:bodyPr wrap="square" lIns="0" tIns="0" rIns="0" bIns="0" rtlCol="0" anchor="t"/>
          <a:lstStyle/>
          <a:p>
            <a:pPr indent="0" marL="0">
              <a:buNone/>
            </a:pPr>
            <a:r>
              <a:rPr lang="en-US" sz="1300" dirty="0">
                <a:solidFill>
                  <a:schemeClr val="tx1"/>
                </a:solidFill>
              </a:rPr>
              <a:t>sql/06_encryption_demo.sql: the stored hex next to the decrypted value. A wrong key returns NULL.</a:t>
            </a:r>
            <a:endParaRPr lang="en-US" sz="13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4. Authorization and privileges</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4 · 15 points</a:t>
            </a:r>
            <a:endParaRPr lang="en-US" sz="1200" dirty="0"/>
          </a:p>
        </p:txBody>
      </p:sp>
      <p:graphicFrame>
        <p:nvGraphicFramePr>
          <p:cNvPr id="12" name="roles-table"/>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1920240"/>
                <a:gridCol w="1737360"/>
                <a:gridCol w="3383280"/>
              </a:tblGrid>
              <a:tr h="420624">
                <a:tc>
                  <a:txBody>
                    <a:bodyPr/>
                    <a:lstStyle/>
                    <a:p>
                      <a:pPr algn="l" indent="0" marL="0">
                        <a:buNone/>
                      </a:pPr>
                      <a:r>
                        <a:rPr lang="en-US" sz="1250" b="1" dirty="0">
                          <a:solidFill>
                            <a:schemeClr val="tx1"/>
                          </a:solidFill>
                        </a:rPr>
                        <a:t>Role</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250" b="1" dirty="0">
                          <a:solidFill>
                            <a:schemeClr val="tx1"/>
                          </a:solidFill>
                        </a:rPr>
                        <a:t>MySQL user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250" b="1" dirty="0">
                          <a:solidFill>
                            <a:schemeClr val="tx1"/>
                          </a:solidFill>
                        </a:rPr>
                        <a:t>Holds the right to</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420624">
                <a:tc>
                  <a:txBody>
                    <a:bodyPr/>
                    <a:lstStyle/>
                    <a:p>
                      <a:pPr algn="l" indent="0" marL="0">
                        <a:buNone/>
                      </a:pPr>
                      <a:r>
                        <a:rPr lang="en-US" sz="1250" b="1" dirty="0">
                          <a:solidFill>
                            <a:schemeClr val="tx1"/>
                          </a:solidFill>
                        </a:rPr>
                        <a:t>Engineer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rsci_engineer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File tickets, edit their own rejected ticket</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Boss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rsci_boss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Approve requests and P.O.s, read financials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Operations Manager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rsci_om</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Approve P.O.s, read-only elsewhere</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PO Officer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rsci_po_officer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Create P.O.s and vendors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Accountant</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rsci_accountant</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Record payment, post expenses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Inventory</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rsci_inventory</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Receive deliveries, stock in and out</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Administrator</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rsci_admin</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Read everything, change nothing, no secrets</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420624">
                <a:tc>
                  <a:txBody>
                    <a:bodyPr/>
                    <a:lstStyle/>
                    <a:p>
                      <a:pPr algn="l" indent="0" marL="0">
                        <a:buNone/>
                      </a:pPr>
                      <a:r>
                        <a:rPr lang="en-US" sz="1250" b="1" dirty="0">
                          <a:solidFill>
                            <a:schemeClr val="tx1"/>
                          </a:solidFill>
                        </a:rPr>
                        <a:t>Login only</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rsci_auth</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250" dirty="0">
                          <a:solidFill>
                            <a:schemeClr val="tx1"/>
                          </a:solidFill>
                        </a:rPr>
                        <a:t>Read password hashes at sign-in</a:t>
                      </a:r>
                      <a:endParaRPr lang="en-US" sz="125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6" name="princ-label"/>
          <p:cNvSpPr txBox="1"/>
          <p:nvPr/>
        </p:nvSpPr>
        <p:spPr>
          <a:xfrm>
            <a:off x="7955280" y="1371600"/>
            <a:ext cx="3657600" cy="274320"/>
          </a:xfrm>
          <a:prstGeom prst="rect">
            <a:avLst/>
          </a:prstGeom>
          <a:noFill/>
          <a:ln/>
        </p:spPr>
        <p:txBody>
          <a:bodyPr wrap="square" lIns="0" tIns="0" rIns="0" bIns="0" rtlCol="0" anchor="t"/>
          <a:lstStyle/>
          <a:p>
            <a:pPr indent="0" marL="0">
              <a:buNone/>
            </a:pPr>
            <a:r>
              <a:rPr lang="en-US" sz="1300" b="1" dirty="0">
                <a:solidFill>
                  <a:schemeClr val="accent1"/>
                </a:solidFill>
              </a:rPr>
              <a:t>Least privilege, in the grants</a:t>
            </a:r>
            <a:endParaRPr lang="en-US" sz="1300" dirty="0"/>
          </a:p>
        </p:txBody>
      </p:sp>
      <p:sp>
        <p:nvSpPr>
          <p:cNvPr id="7" name="princ-list"/>
          <p:cNvSpPr txBox="1"/>
          <p:nvPr/>
        </p:nvSpPr>
        <p:spPr>
          <a:xfrm>
            <a:off x="7955280" y="1737360"/>
            <a:ext cx="3687775" cy="31089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Column-level GRANT: TIN, check number and password hash are left out</a:t>
            </a:r>
            <a:endParaRPr lang="en-US" sz="1300" dirty="0"/>
          </a:p>
          <a:p>
            <a:pPr marL="342900" indent="-342900">
              <a:spcAft>
                <a:spcPts val="900"/>
              </a:spcAft>
              <a:buSzPct val="100000"/>
              <a:buChar char="•"/>
            </a:pPr>
            <a:r>
              <a:rPr lang="en-US" sz="1300" dirty="0">
                <a:solidFill>
                  <a:schemeClr val="tx1"/>
                </a:solidFill>
              </a:rPr>
              <a:t>No role has DELETE</a:t>
            </a:r>
            <a:endParaRPr lang="en-US" sz="1300" dirty="0"/>
          </a:p>
          <a:p>
            <a:pPr marL="342900" indent="-342900">
              <a:spcAft>
                <a:spcPts val="900"/>
              </a:spcAft>
              <a:buSzPct val="100000"/>
              <a:buChar char="•"/>
            </a:pPr>
            <a:r>
              <a:rPr lang="en-US" sz="1300" dirty="0">
                <a:solidFill>
                  <a:schemeClr val="tx1"/>
                </a:solidFill>
              </a:rPr>
              <a:t>activity_log is insert-only, so history cannot be edited</a:t>
            </a:r>
            <a:endParaRPr lang="en-US" sz="1300" dirty="0"/>
          </a:p>
          <a:p>
            <a:pPr marL="342900" indent="-342900">
              <a:spcAft>
                <a:spcPts val="900"/>
              </a:spcAft>
              <a:buSzPct val="100000"/>
              <a:buChar char="•"/>
            </a:pPr>
            <a:r>
              <a:rPr lang="en-US" sz="1300" dirty="0">
                <a:solidFill>
                  <a:schemeClr val="tx1"/>
                </a:solidFill>
              </a:rPr>
              <a:t>Rejected tickets are edited only through a stored procedure (GRANT EXECUTE)</a:t>
            </a:r>
            <a:endParaRPr lang="en-US" sz="1300" dirty="0"/>
          </a:p>
        </p:txBody>
      </p:sp>
      <p:sp>
        <p:nvSpPr>
          <p:cNvPr id="8" name="revoke-rule"/>
          <p:cNvSpPr/>
          <p:nvPr/>
        </p:nvSpPr>
        <p:spPr>
          <a:xfrm>
            <a:off x="548640" y="5440680"/>
            <a:ext cx="11094415" cy="0"/>
          </a:xfrm>
          <a:prstGeom prst="line">
            <a:avLst/>
          </a:prstGeom>
          <a:noFill/>
          <a:ln w="9525">
            <a:solidFill>
              <a:schemeClr val="tx1"/>
            </a:solidFill>
            <a:prstDash val="solid"/>
          </a:ln>
        </p:spPr>
      </p:sp>
      <p:sp>
        <p:nvSpPr>
          <p:cNvPr id="9" name="revoke-note"/>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300" b="1" dirty="0">
                <a:solidFill>
                  <a:schemeClr val="tx1"/>
                </a:solidFill>
              </a:rPr>
              <a:t>REVOKE live: </a:t>
            </a:r>
            <a:pPr indent="0" marL="0">
              <a:buNone/>
            </a:pPr>
            <a:r>
              <a:rPr lang="en-US" sz="1300" dirty="0">
                <a:solidFill>
                  <a:schemeClr val="tx1"/>
                </a:solidFill>
              </a:rPr>
              <a:t>SHOW GRANTS FOR rsci_om, then REVOKE SELECT ON activity_log. The OM’s Activity Log now fails with "SELECT command denied". GRANT it back and it loads again.</a:t>
            </a:r>
            <a:endParaRPr lang="en-US" sz="13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5. Query optimization</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5 · 15 points</a:t>
            </a:r>
            <a:endParaRPr lang="en-US" sz="1200" dirty="0"/>
          </a:p>
        </p:txBody>
      </p:sp>
      <p:sp>
        <p:nvSpPr>
          <p:cNvPr id="5" name="q-label"/>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300" b="1" dirty="0">
                <a:solidFill>
                  <a:schemeClr val="accent1"/>
                </a:solidFill>
              </a:rPr>
              <a:t>The Expenses report, 100,000 rows</a:t>
            </a:r>
            <a:endParaRPr lang="en-US" sz="1300" dirty="0"/>
          </a:p>
        </p:txBody>
      </p:sp>
      <p:sp>
        <p:nvSpPr>
          <p:cNvPr id="6" name="query-box"/>
          <p:cNvSpPr/>
          <p:nvPr/>
        </p:nvSpPr>
        <p:spPr>
          <a:xfrm>
            <a:off x="548640" y="1737360"/>
            <a:ext cx="5669280" cy="1234440"/>
          </a:xfrm>
          <a:prstGeom prst="rect">
            <a:avLst/>
          </a:prstGeom>
          <a:solidFill>
            <a:schemeClr val="bg2"/>
          </a:solidFill>
          <a:ln w="9525">
            <a:solidFill>
              <a:schemeClr val="tx1"/>
            </a:solidFill>
            <a:prstDash val="solid"/>
          </a:ln>
        </p:spPr>
      </p:sp>
      <p:sp>
        <p:nvSpPr>
          <p:cNvPr id="7" name="query-text"/>
          <p:cNvSpPr txBox="1"/>
          <p:nvPr/>
        </p:nvSpPr>
        <p:spPr>
          <a:xfrm>
            <a:off x="685800" y="1801368"/>
            <a:ext cx="5394960" cy="1097280"/>
          </a:xfrm>
          <a:prstGeom prst="rect">
            <a:avLst/>
          </a:prstGeom>
          <a:noFill/>
          <a:ln/>
        </p:spPr>
        <p:txBody>
          <a:bodyPr wrap="square" lIns="0" tIns="0" rIns="0" bIns="0" rtlCol="0" anchor="ctr"/>
          <a:lstStyle/>
          <a:p>
            <a:pPr indent="0" marL="0">
              <a:buNone/>
            </a:pPr>
            <a:r>
              <a:rPr lang="en-US" sz="1150" dirty="0">
                <a:solidFill>
                  <a:schemeClr val="tx1"/>
                </a:solidFill>
                <a:latin typeface="Courier New" pitchFamily="34" charset="0"/>
                <a:ea typeface="Courier New" pitchFamily="34" charset="-122"/>
                <a:cs typeface="Courier New" pitchFamily="34" charset="-120"/>
              </a:rPr>
              <a:t>SELECT project_id, COUNT(*), SUM(amount)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FROM expenses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WHERE expense_date BETWEEN '2026-03-01' AND '2026-03-31'</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GROUP BY project_id;</a:t>
            </a:r>
            <a:endParaRPr lang="en-US" sz="1150" dirty="0"/>
          </a:p>
        </p:txBody>
      </p:sp>
      <p:sp>
        <p:nvSpPr>
          <p:cNvPr id="8" name="plan-rule"/>
          <p:cNvSpPr/>
          <p:nvPr/>
        </p:nvSpPr>
        <p:spPr>
          <a:xfrm>
            <a:off x="548640" y="3246120"/>
            <a:ext cx="2743200" cy="0"/>
          </a:xfrm>
          <a:prstGeom prst="line">
            <a:avLst/>
          </a:prstGeom>
          <a:noFill/>
          <a:ln w="9525">
            <a:solidFill>
              <a:schemeClr val="tx1"/>
            </a:solidFill>
            <a:prstDash val="solid"/>
          </a:ln>
        </p:spPr>
      </p:sp>
      <p:sp>
        <p:nvSpPr>
          <p:cNvPr id="9" name="plan-head"/>
          <p:cNvSpPr txBox="1"/>
          <p:nvPr/>
        </p:nvSpPr>
        <p:spPr>
          <a:xfrm>
            <a:off x="548640" y="3383280"/>
            <a:ext cx="2743200" cy="274320"/>
          </a:xfrm>
          <a:prstGeom prst="rect">
            <a:avLst/>
          </a:prstGeom>
          <a:noFill/>
          <a:ln/>
        </p:spPr>
        <p:txBody>
          <a:bodyPr wrap="square" lIns="0" tIns="0" rIns="0" bIns="0" rtlCol="0" anchor="t"/>
          <a:lstStyle/>
          <a:p>
            <a:pPr indent="0" marL="0">
              <a:buNone/>
            </a:pPr>
            <a:r>
              <a:rPr lang="en-US" sz="1400" b="1" dirty="0">
                <a:solidFill>
                  <a:schemeClr val="tx1"/>
                </a:solidFill>
              </a:rPr>
              <a:t>Before: no index</a:t>
            </a:r>
            <a:endParaRPr lang="en-US" sz="1400" dirty="0"/>
          </a:p>
        </p:txBody>
      </p:sp>
      <p:sp>
        <p:nvSpPr>
          <p:cNvPr id="10" name="plan-list"/>
          <p:cNvSpPr txBox="1"/>
          <p:nvPr/>
        </p:nvSpPr>
        <p:spPr>
          <a:xfrm>
            <a:off x="548640" y="3749040"/>
            <a:ext cx="274320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EXPLAIN: every row examined, about 100,000</a:t>
            </a:r>
            <a:endParaRPr lang="en-US" sz="1200" dirty="0"/>
          </a:p>
          <a:p>
            <a:pPr marL="342900" indent="-342900">
              <a:spcAft>
                <a:spcPts val="600"/>
              </a:spcAft>
              <a:buSzPct val="100000"/>
              <a:buChar char="•"/>
            </a:pPr>
            <a:r>
              <a:rPr lang="en-US" sz="1200" dirty="0">
                <a:solidFill>
                  <a:schemeClr val="tx1"/>
                </a:solidFill>
              </a:rPr>
              <a:t>Extra: Using where</a:t>
            </a:r>
            <a:endParaRPr lang="en-US" sz="1200" dirty="0"/>
          </a:p>
        </p:txBody>
      </p:sp>
      <p:sp>
        <p:nvSpPr>
          <p:cNvPr id="11" name="plan-rule"/>
          <p:cNvSpPr/>
          <p:nvPr/>
        </p:nvSpPr>
        <p:spPr>
          <a:xfrm>
            <a:off x="3474720" y="3246120"/>
            <a:ext cx="2743200" cy="0"/>
          </a:xfrm>
          <a:prstGeom prst="line">
            <a:avLst/>
          </a:prstGeom>
          <a:noFill/>
          <a:ln w="9525">
            <a:solidFill>
              <a:schemeClr val="tx1"/>
            </a:solidFill>
            <a:prstDash val="solid"/>
          </a:ln>
        </p:spPr>
      </p:sp>
      <p:sp>
        <p:nvSpPr>
          <p:cNvPr id="12" name="plan-head"/>
          <p:cNvSpPr txBox="1"/>
          <p:nvPr/>
        </p:nvSpPr>
        <p:spPr>
          <a:xfrm>
            <a:off x="3474720" y="3383280"/>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After: covering index</a:t>
            </a:r>
            <a:endParaRPr lang="en-US" sz="1400" dirty="0"/>
          </a:p>
        </p:txBody>
      </p:sp>
      <p:sp>
        <p:nvSpPr>
          <p:cNvPr id="13" name="plan-list"/>
          <p:cNvSpPr txBox="1"/>
          <p:nvPr/>
        </p:nvSpPr>
        <p:spPr>
          <a:xfrm>
            <a:off x="3474720" y="3749040"/>
            <a:ext cx="274320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CREATE INDEX idx_expenses_date_proj_amt ON expenses (expense_date, project_id, amount)</a:t>
            </a:r>
            <a:endParaRPr lang="en-US" sz="1200" dirty="0"/>
          </a:p>
          <a:p>
            <a:pPr marL="342900" indent="-342900">
              <a:spcAft>
                <a:spcPts val="600"/>
              </a:spcAft>
              <a:buSzPct val="100000"/>
              <a:buChar char="•"/>
            </a:pPr>
            <a:r>
              <a:rPr lang="en-US" sz="1200" dirty="0">
                <a:solidFill>
                  <a:schemeClr val="tx1"/>
                </a:solidFill>
              </a:rPr>
              <a:t>EXPLAIN: type range, about 5,000 rows, Extra: Using index</a:t>
            </a:r>
            <a:endParaRPr lang="en-US" sz="1200" dirty="0"/>
          </a:p>
        </p:txBody>
      </p:sp>
      <p:sp>
        <p:nvSpPr>
          <p:cNvPr id="14" name="rewrite-note"/>
          <p:cNvSpPr txBox="1"/>
          <p:nvPr/>
        </p:nvSpPr>
        <p:spPr>
          <a:xfrm>
            <a:off x="548640" y="5623560"/>
            <a:ext cx="5669280" cy="640080"/>
          </a:xfrm>
          <a:prstGeom prst="rect">
            <a:avLst/>
          </a:prstGeom>
          <a:noFill/>
          <a:ln/>
        </p:spPr>
        <p:txBody>
          <a:bodyPr wrap="square" lIns="0" tIns="0" rIns="0" bIns="0" rtlCol="0" anchor="t"/>
          <a:lstStyle/>
          <a:p>
            <a:pPr indent="0" marL="0">
              <a:buNone/>
            </a:pPr>
            <a:r>
              <a:rPr lang="en-US" sz="1200" b="1" dirty="0">
                <a:solidFill>
                  <a:schemeClr val="tx2"/>
                </a:solidFill>
              </a:rPr>
              <a:t>Rewriting also matters: </a:t>
            </a:r>
            <a:pPr indent="0" marL="0">
              <a:buNone/>
            </a:pPr>
            <a:r>
              <a:rPr lang="en-US" sz="1200" dirty="0">
                <a:solidFill>
                  <a:schemeClr val="tx2"/>
                </a:solidFill>
              </a:rPr>
              <a:t>YEAR(expense_date) = 2026 AND MONTH(expense_date) = 3 is not sargable and ignores the index. Compare the bare column to a range instead.</a:t>
            </a:r>
            <a:endParaRPr lang="en-US" sz="1200" dirty="0"/>
          </a:p>
        </p:txBody>
      </p:sp>
      <p:graphicFrame>
        <p:nvGraphicFramePr>
          <p:cNvPr id="15" name="Chart 0" descr=""/>
          <p:cNvGraphicFramePr/>
          <p:nvPr/>
        </p:nvGraphicFramePr>
        <p:xfrm>
          <a:off x="6583680" y="1371600"/>
          <a:ext cx="5029200" cy="3931920"/>
        </p:xfrm>
        <a:graphic xmlns:a="http://schemas.openxmlformats.org/drawingml/2006/main">
          <a:graphicData uri="http://schemas.openxmlformats.org/drawingml/2006/chart">
            <c:chart xmlns:c="http://schemas.openxmlformats.org/drawingml/2006/chart" r:id="rId1"/>
          </a:graphicData>
        </a:graphic>
      </p:graphicFrame>
      <p:sp>
        <p:nvSpPr>
          <p:cNvPr id="16" name="chart-caption"/>
          <p:cNvSpPr txBox="1"/>
          <p:nvPr/>
        </p:nvSpPr>
        <p:spPr>
          <a:xfrm>
            <a:off x="6583680" y="5394960"/>
            <a:ext cx="5029200" cy="548640"/>
          </a:xfrm>
          <a:prstGeom prst="rect">
            <a:avLst/>
          </a:prstGeom>
          <a:noFill/>
          <a:ln/>
        </p:spPr>
        <p:txBody>
          <a:bodyPr wrap="square" lIns="0" tIns="0" rIns="0" bIns="0" rtlCol="0" anchor="t"/>
          <a:lstStyle/>
          <a:p>
            <a:pPr indent="0" marL="0">
              <a:buNone/>
            </a:pPr>
            <a:r>
              <a:rPr lang="en-US" sz="1200" dirty="0">
                <a:solidFill>
                  <a:schemeClr val="tx2"/>
                </a:solidFill>
              </a:rPr>
              <a:t>Measured on the demo machine, same query, same 100,000 rows. About ten times faster.</a:t>
            </a:r>
            <a:endParaRPr lang="en-US" sz="1200" dirty="0"/>
          </a:p>
        </p:txBody>
      </p:sp>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595360" cy="777240"/>
          </a:xfrm>
          <a:prstGeom prst="rect">
            <a:avLst/>
          </a:prstGeom>
          <a:noFill/>
          <a:ln/>
        </p:spPr>
        <p:txBody>
          <a:bodyPr wrap="square" lIns="0" tIns="0" rIns="0" bIns="0" rtlCol="0" anchor="ctr"/>
          <a:lstStyle/>
          <a:p>
            <a:pPr algn="l" indent="0" marL="0">
              <a:buNone/>
            </a:pPr>
            <a:r>
              <a:rPr lang="en-US" sz="3000" b="1" dirty="0">
                <a:solidFill>
                  <a:schemeClr val="tx1"/>
                </a:solidFill>
              </a:rPr>
              <a:t>What the web shows, what MySQL shows</a:t>
            </a:r>
            <a:endParaRPr lang="en-US" sz="3000" dirty="0"/>
          </a:p>
        </p:txBody>
      </p:sp>
      <p:sp>
        <p:nvSpPr>
          <p:cNvPr id="3" name="Text 0"/>
          <p:cNvSpPr/>
          <p:nvPr>
            <p:ph idx="101" type="body" hasCustomPrompt="1"/>
          </p:nvPr>
        </p:nvSpPr>
        <p:spPr>
          <a:xfrm>
            <a:off x="9144000" y="457200"/>
            <a:ext cx="2499055" cy="365760"/>
          </a:xfrm>
          <a:prstGeom prst="rect">
            <a:avLst/>
          </a:prstGeom>
          <a:noFill/>
          <a:ln/>
        </p:spPr>
        <p:txBody>
          <a:bodyPr wrap="square" lIns="0" tIns="0" rIns="0" bIns="0" rtlCol="0" anchor="ctr"/>
          <a:lstStyle/>
          <a:p>
            <a:pPr algn="r" indent="0" marL="0">
              <a:buNone/>
            </a:pPr>
            <a:r>
              <a:rPr lang="en-US" sz="1200" dirty="0">
                <a:solidFill>
                  <a:schemeClr val="tx2"/>
                </a:solidFill>
              </a:rPr>
              <a:t>Criterion 7 · 15 points</a:t>
            </a:r>
            <a:endParaRPr lang="en-US" sz="1200" dirty="0"/>
          </a:p>
        </p:txBody>
      </p:sp>
      <p:graphicFrame>
        <p:nvGraphicFramePr>
          <p:cNvPr id="14" name="web-vs-sql"/>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4846320"/>
                <a:gridCol w="4053535"/>
              </a:tblGrid>
              <a:tr h="502920">
                <a:tc>
                  <a:txBody>
                    <a:bodyPr/>
                    <a:lstStyle/>
                    <a:p>
                      <a:pPr algn="l" indent="0" marL="0">
                        <a:buNone/>
                      </a:pPr>
                      <a:r>
                        <a:rPr lang="en-US" sz="1300" b="1" dirty="0">
                          <a:solidFill>
                            <a:schemeClr val="tx1"/>
                          </a:solidFill>
                        </a:rPr>
                        <a:t>Concept</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rPr>
                        <a:t>Visible in the web</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c>
                  <a:txBody>
                    <a:bodyPr/>
                    <a:lstStyle/>
                    <a:p>
                      <a:pPr algn="l" indent="0" marL="0">
                        <a:buNone/>
                      </a:pPr>
                      <a:r>
                        <a:rPr lang="en-US" sz="1300" b="1" dirty="0">
                          <a:solidFill>
                            <a:schemeClr val="tx1"/>
                          </a:solidFill>
                        </a:rPr>
                        <a:t>Shown in MySQL</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2"/>
                    </a:solidFill>
                  </a:tcPr>
                </a:tc>
              </a:tr>
              <a:tr h="502920">
                <a:tc>
                  <a:txBody>
                    <a:bodyPr/>
                    <a:lstStyle/>
                    <a:p>
                      <a:pPr algn="l" indent="0" marL="0">
                        <a:buNone/>
                      </a:pPr>
                      <a:r>
                        <a:rPr lang="en-US" sz="1300" b="1" dirty="0">
                          <a:solidFill>
                            <a:schemeClr val="tx1"/>
                          </a:solidFill>
                        </a:rPr>
                        <a:t>Roles and privileges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Sidebar shows the role and its rsci_* user; menus and buttons differ per role</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sql/02_roles.sql, denied statements as rsci_engineer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Revoked privilege</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Page error "SELECT command denied", with Try again</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sql/05_revoke_demo.sql: SHOW GRANTS, REVOKE, GRANT</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Sensitive data</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Vendors TIN and the P.O. check number: decrypted or Restricted</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sql/06_encryption_demo.sql: stored hex and decrypted value</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Transaction rollback</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"ROLLED BACK. Nothing was saved." with the failure toggle on</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sql/03_transactions_demo.sql, sections A and B</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Integrity and isolation</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Duplicate P.O. number, "Not enough stock", double-approve refused</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Constraints in sql/01_schema.sql; sql/03 section C</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Audit trail</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Activity Log with filters by user and action</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activity_log table, insert-only grants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Query performance</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Expenses page shows the query time in ms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sql/04_optimization.sql: EXPLAIN before and after</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r h="502920">
                <a:tc>
                  <a:txBody>
                    <a:bodyPr/>
                    <a:lstStyle/>
                    <a:p>
                      <a:pPr algn="l" indent="0" marL="0">
                        <a:buNone/>
                      </a:pPr>
                      <a:r>
                        <a:rPr lang="en-US" sz="1300" b="1" dirty="0">
                          <a:solidFill>
                            <a:schemeClr val="tx1"/>
                          </a:solidFill>
                        </a:rPr>
                        <a:t>Oversight</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Administrator dashboard: pipeline, latest actions, team</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c>
                  <a:txBody>
                    <a:bodyPr/>
                    <a:lstStyle/>
                    <a:p>
                      <a:pPr algn="l" indent="0" marL="0">
                        <a:buNone/>
                      </a:pPr>
                      <a:r>
                        <a:rPr lang="en-US" sz="1300" dirty="0">
                          <a:solidFill>
                            <a:schemeClr val="tx1"/>
                          </a:solidFill>
                        </a:rPr>
                        <a:t>rsci_admin grants: SELECT only, no secret columns</a:t>
                      </a:r>
                      <a:endParaRPr lang="en-US" sz="1300" dirty="0"/>
                    </a:p>
                  </a:txBody>
                  <a:tcPr marL="88900" marR="88900" marT="38100" marB="3810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78815"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losing-title"/>
          <p:cNvSpPr txBox="1"/>
          <p:nvPr/>
        </p:nvSpPr>
        <p:spPr>
          <a:xfrm>
            <a:off x="548640" y="1097280"/>
            <a:ext cx="6400800" cy="2560320"/>
          </a:xfrm>
          <a:prstGeom prst="rect">
            <a:avLst/>
          </a:prstGeom>
          <a:noFill/>
          <a:ln/>
        </p:spPr>
        <p:txBody>
          <a:bodyPr wrap="square" lIns="0" tIns="0" rIns="0" bIns="0" rtlCol="0" anchor="t"/>
          <a:lstStyle/>
          <a:p>
            <a:pPr indent="0" marL="0">
              <a:buNone/>
            </a:pPr>
            <a:r>
              <a:rPr lang="en-US" sz="4800" b="1" dirty="0">
                <a:solidFill>
                  <a:schemeClr val="tx1"/>
                </a:solidFill>
              </a:rPr>
              <a:t>One pipeline.</a:t>
            </a:r>
            <a:endParaRPr lang="en-US" sz="4800" dirty="0"/>
          </a:p>
          <a:p>
            <a:pPr indent="0" marL="0">
              <a:buNone/>
            </a:pPr>
            <a:r>
              <a:rPr lang="en-US" sz="4800" b="1" dirty="0">
                <a:solidFill>
                  <a:schemeClr val="tx1"/>
                </a:solidFill>
              </a:rPr>
              <a:t>Seven roles.</a:t>
            </a:r>
            <a:endParaRPr lang="en-US" sz="4800" dirty="0"/>
          </a:p>
          <a:p>
            <a:pPr indent="0" marL="0">
              <a:buNone/>
            </a:pPr>
            <a:r>
              <a:rPr lang="en-US" sz="4800" b="1" dirty="0">
                <a:solidFill>
                  <a:schemeClr val="tx1"/>
                </a:solidFill>
              </a:rPr>
              <a:t>Twelve tables.</a:t>
            </a:r>
            <a:endParaRPr lang="en-US" sz="4800" dirty="0"/>
          </a:p>
        </p:txBody>
      </p:sp>
      <p:sp>
        <p:nvSpPr>
          <p:cNvPr id="3" name="sum-rule"/>
          <p:cNvSpPr/>
          <p:nvPr/>
        </p:nvSpPr>
        <p:spPr>
          <a:xfrm>
            <a:off x="7406640" y="1097280"/>
            <a:ext cx="4236415" cy="0"/>
          </a:xfrm>
          <a:prstGeom prst="line">
            <a:avLst/>
          </a:prstGeom>
          <a:noFill/>
          <a:ln w="9525">
            <a:solidFill>
              <a:schemeClr val="tx1"/>
            </a:solidFill>
            <a:prstDash val="solid"/>
          </a:ln>
        </p:spPr>
      </p:sp>
      <p:sp>
        <p:nvSpPr>
          <p:cNvPr id="4" name="sum-head"/>
          <p:cNvSpPr txBox="1"/>
          <p:nvPr/>
        </p:nvSpPr>
        <p:spPr>
          <a:xfrm>
            <a:off x="7406640" y="1207008"/>
            <a:ext cx="4236415" cy="274320"/>
          </a:xfrm>
          <a:prstGeom prst="rect">
            <a:avLst/>
          </a:prstGeom>
          <a:noFill/>
          <a:ln/>
        </p:spPr>
        <p:txBody>
          <a:bodyPr wrap="square" lIns="0" tIns="0" rIns="0" bIns="0" rtlCol="0" anchor="t"/>
          <a:lstStyle/>
          <a:p>
            <a:pPr indent="0" marL="0">
              <a:buNone/>
            </a:pPr>
            <a:r>
              <a:rPr lang="en-US" sz="1500" b="1" dirty="0">
                <a:solidFill>
                  <a:schemeClr val="accent1"/>
                </a:solidFill>
              </a:rPr>
              <a:t>Transactions</a:t>
            </a:r>
            <a:endParaRPr lang="en-US" sz="1500" dirty="0"/>
          </a:p>
        </p:txBody>
      </p:sp>
      <p:sp>
        <p:nvSpPr>
          <p:cNvPr id="5" name="sum-body"/>
          <p:cNvSpPr txBox="1"/>
          <p:nvPr/>
        </p:nvSpPr>
        <p:spPr>
          <a:xfrm>
            <a:off x="7406640" y="1517904"/>
            <a:ext cx="4236415" cy="548640"/>
          </a:xfrm>
          <a:prstGeom prst="rect">
            <a:avLst/>
          </a:prstGeom>
          <a:noFill/>
          <a:ln/>
        </p:spPr>
        <p:txBody>
          <a:bodyPr wrap="square" lIns="0" tIns="0" rIns="0" bIns="0" rtlCol="0" anchor="t"/>
          <a:lstStyle/>
          <a:p>
            <a:pPr indent="0" marL="0">
              <a:buNone/>
            </a:pPr>
            <a:r>
              <a:rPr lang="en-US" sz="1300" dirty="0">
                <a:solidFill>
                  <a:schemeClr val="tx1"/>
                </a:solidFill>
              </a:rPr>
              <a:t>every multi-step change is all-or-nothing</a:t>
            </a:r>
            <a:endParaRPr lang="en-US" sz="1300" dirty="0"/>
          </a:p>
        </p:txBody>
      </p:sp>
      <p:sp>
        <p:nvSpPr>
          <p:cNvPr id="6" name="sum-rule"/>
          <p:cNvSpPr/>
          <p:nvPr/>
        </p:nvSpPr>
        <p:spPr>
          <a:xfrm>
            <a:off x="7406640" y="2103120"/>
            <a:ext cx="4236415" cy="0"/>
          </a:xfrm>
          <a:prstGeom prst="line">
            <a:avLst/>
          </a:prstGeom>
          <a:noFill/>
          <a:ln w="9525">
            <a:solidFill>
              <a:schemeClr val="tx1"/>
            </a:solidFill>
            <a:prstDash val="solid"/>
          </a:ln>
        </p:spPr>
      </p:sp>
      <p:sp>
        <p:nvSpPr>
          <p:cNvPr id="7" name="sum-head"/>
          <p:cNvSpPr txBox="1"/>
          <p:nvPr/>
        </p:nvSpPr>
        <p:spPr>
          <a:xfrm>
            <a:off x="7406640" y="2212848"/>
            <a:ext cx="4236415" cy="274320"/>
          </a:xfrm>
          <a:prstGeom prst="rect">
            <a:avLst/>
          </a:prstGeom>
          <a:noFill/>
          <a:ln/>
        </p:spPr>
        <p:txBody>
          <a:bodyPr wrap="square" lIns="0" tIns="0" rIns="0" bIns="0" rtlCol="0" anchor="t"/>
          <a:lstStyle/>
          <a:p>
            <a:pPr indent="0" marL="0">
              <a:buNone/>
            </a:pPr>
            <a:r>
              <a:rPr lang="en-US" sz="1500" b="1" dirty="0">
                <a:solidFill>
                  <a:schemeClr val="accent1"/>
                </a:solidFill>
              </a:rPr>
              <a:t>Encryption</a:t>
            </a:r>
            <a:endParaRPr lang="en-US" sz="1500" dirty="0"/>
          </a:p>
        </p:txBody>
      </p:sp>
      <p:sp>
        <p:nvSpPr>
          <p:cNvPr id="8" name="sum-body"/>
          <p:cNvSpPr txBox="1"/>
          <p:nvPr/>
        </p:nvSpPr>
        <p:spPr>
          <a:xfrm>
            <a:off x="7406640" y="2523744"/>
            <a:ext cx="4236415" cy="548640"/>
          </a:xfrm>
          <a:prstGeom prst="rect">
            <a:avLst/>
          </a:prstGeom>
          <a:noFill/>
          <a:ln/>
        </p:spPr>
        <p:txBody>
          <a:bodyPr wrap="square" lIns="0" tIns="0" rIns="0" bIns="0" rtlCol="0" anchor="t"/>
          <a:lstStyle/>
          <a:p>
            <a:pPr indent="0" marL="0">
              <a:buNone/>
            </a:pPr>
            <a:r>
              <a:rPr lang="en-US" sz="1300" dirty="0">
                <a:solidFill>
                  <a:schemeClr val="tx1"/>
                </a:solidFill>
              </a:rPr>
              <a:t>sensitive data is unreadable without a key kept outside the database</a:t>
            </a:r>
            <a:endParaRPr lang="en-US" sz="1300" dirty="0"/>
          </a:p>
        </p:txBody>
      </p:sp>
      <p:sp>
        <p:nvSpPr>
          <p:cNvPr id="9" name="sum-rule"/>
          <p:cNvSpPr/>
          <p:nvPr/>
        </p:nvSpPr>
        <p:spPr>
          <a:xfrm>
            <a:off x="7406640" y="3108960"/>
            <a:ext cx="4236415" cy="0"/>
          </a:xfrm>
          <a:prstGeom prst="line">
            <a:avLst/>
          </a:prstGeom>
          <a:noFill/>
          <a:ln w="9525">
            <a:solidFill>
              <a:schemeClr val="tx1"/>
            </a:solidFill>
            <a:prstDash val="solid"/>
          </a:ln>
        </p:spPr>
      </p:sp>
      <p:sp>
        <p:nvSpPr>
          <p:cNvPr id="10" name="sum-head"/>
          <p:cNvSpPr txBox="1"/>
          <p:nvPr/>
        </p:nvSpPr>
        <p:spPr>
          <a:xfrm>
            <a:off x="7406640" y="3218688"/>
            <a:ext cx="4236415" cy="274320"/>
          </a:xfrm>
          <a:prstGeom prst="rect">
            <a:avLst/>
          </a:prstGeom>
          <a:noFill/>
          <a:ln/>
        </p:spPr>
        <p:txBody>
          <a:bodyPr wrap="square" lIns="0" tIns="0" rIns="0" bIns="0" rtlCol="0" anchor="t"/>
          <a:lstStyle/>
          <a:p>
            <a:pPr indent="0" marL="0">
              <a:buNone/>
            </a:pPr>
            <a:r>
              <a:rPr lang="en-US" sz="1500" b="1" dirty="0">
                <a:solidFill>
                  <a:schemeClr val="accent1"/>
                </a:solidFill>
              </a:rPr>
              <a:t>Privileges</a:t>
            </a:r>
            <a:endParaRPr lang="en-US" sz="1500" dirty="0"/>
          </a:p>
        </p:txBody>
      </p:sp>
      <p:sp>
        <p:nvSpPr>
          <p:cNvPr id="11" name="sum-body"/>
          <p:cNvSpPr txBox="1"/>
          <p:nvPr/>
        </p:nvSpPr>
        <p:spPr>
          <a:xfrm>
            <a:off x="7406640" y="3529584"/>
            <a:ext cx="4236415" cy="548640"/>
          </a:xfrm>
          <a:prstGeom prst="rect">
            <a:avLst/>
          </a:prstGeom>
          <a:noFill/>
          <a:ln/>
        </p:spPr>
        <p:txBody>
          <a:bodyPr wrap="square" lIns="0" tIns="0" rIns="0" bIns="0" rtlCol="0" anchor="t"/>
          <a:lstStyle/>
          <a:p>
            <a:pPr indent="0" marL="0">
              <a:buNone/>
            </a:pPr>
            <a:r>
              <a:rPr lang="en-US" sz="1300" dirty="0">
                <a:solidFill>
                  <a:schemeClr val="tx1"/>
                </a:solidFill>
              </a:rPr>
              <a:t>each role connects as its own MySQL user with only what it needs</a:t>
            </a:r>
            <a:endParaRPr lang="en-US" sz="1300" dirty="0"/>
          </a:p>
        </p:txBody>
      </p:sp>
      <p:sp>
        <p:nvSpPr>
          <p:cNvPr id="12" name="sum-rule"/>
          <p:cNvSpPr/>
          <p:nvPr/>
        </p:nvSpPr>
        <p:spPr>
          <a:xfrm>
            <a:off x="7406640" y="4114800"/>
            <a:ext cx="4236415" cy="0"/>
          </a:xfrm>
          <a:prstGeom prst="line">
            <a:avLst/>
          </a:prstGeom>
          <a:noFill/>
          <a:ln w="9525">
            <a:solidFill>
              <a:schemeClr val="tx1"/>
            </a:solidFill>
            <a:prstDash val="solid"/>
          </a:ln>
        </p:spPr>
      </p:sp>
      <p:sp>
        <p:nvSpPr>
          <p:cNvPr id="13" name="sum-head"/>
          <p:cNvSpPr txBox="1"/>
          <p:nvPr/>
        </p:nvSpPr>
        <p:spPr>
          <a:xfrm>
            <a:off x="7406640" y="4224528"/>
            <a:ext cx="4236415" cy="274320"/>
          </a:xfrm>
          <a:prstGeom prst="rect">
            <a:avLst/>
          </a:prstGeom>
          <a:noFill/>
          <a:ln/>
        </p:spPr>
        <p:txBody>
          <a:bodyPr wrap="square" lIns="0" tIns="0" rIns="0" bIns="0" rtlCol="0" anchor="t"/>
          <a:lstStyle/>
          <a:p>
            <a:pPr indent="0" marL="0">
              <a:buNone/>
            </a:pPr>
            <a:r>
              <a:rPr lang="en-US" sz="1500" b="1" dirty="0">
                <a:solidFill>
                  <a:schemeClr val="accent1"/>
                </a:solidFill>
              </a:rPr>
              <a:t>Optimization</a:t>
            </a:r>
            <a:endParaRPr lang="en-US" sz="1500" dirty="0"/>
          </a:p>
        </p:txBody>
      </p:sp>
      <p:sp>
        <p:nvSpPr>
          <p:cNvPr id="14" name="sum-body"/>
          <p:cNvSpPr txBox="1"/>
          <p:nvPr/>
        </p:nvSpPr>
        <p:spPr>
          <a:xfrm>
            <a:off x="7406640" y="4535424"/>
            <a:ext cx="4236415" cy="548640"/>
          </a:xfrm>
          <a:prstGeom prst="rect">
            <a:avLst/>
          </a:prstGeom>
          <a:noFill/>
          <a:ln/>
        </p:spPr>
        <p:txBody>
          <a:bodyPr wrap="square" lIns="0" tIns="0" rIns="0" bIns="0" rtlCol="0" anchor="t"/>
          <a:lstStyle/>
          <a:p>
            <a:pPr indent="0" marL="0">
              <a:buNone/>
            </a:pPr>
            <a:r>
              <a:rPr lang="en-US" sz="1300" dirty="0">
                <a:solidFill>
                  <a:schemeClr val="tx1"/>
                </a:solidFill>
              </a:rPr>
              <a:t>one covering index, about 75 ms down to about 7 ms</a:t>
            </a:r>
            <a:endParaRPr lang="en-US" sz="1300" dirty="0"/>
          </a:p>
        </p:txBody>
      </p:sp>
      <p:sp>
        <p:nvSpPr>
          <p:cNvPr id="15" name="sum-rule"/>
          <p:cNvSpPr/>
          <p:nvPr/>
        </p:nvSpPr>
        <p:spPr>
          <a:xfrm>
            <a:off x="7406640" y="5120640"/>
            <a:ext cx="4236415" cy="0"/>
          </a:xfrm>
          <a:prstGeom prst="line">
            <a:avLst/>
          </a:prstGeom>
          <a:noFill/>
          <a:ln w="9525">
            <a:solidFill>
              <a:schemeClr val="tx1"/>
            </a:solidFill>
            <a:prstDash val="solid"/>
          </a:ln>
        </p:spPr>
      </p:sp>
      <p:sp>
        <p:nvSpPr>
          <p:cNvPr id="16" name="questions"/>
          <p:cNvSpPr txBox="1"/>
          <p:nvPr/>
        </p:nvSpPr>
        <p:spPr>
          <a:xfrm>
            <a:off x="548640" y="4206240"/>
            <a:ext cx="4572000" cy="640080"/>
          </a:xfrm>
          <a:prstGeom prst="rect">
            <a:avLst/>
          </a:prstGeom>
          <a:noFill/>
          <a:ln/>
        </p:spPr>
        <p:txBody>
          <a:bodyPr wrap="square" lIns="0" tIns="0" rIns="0" bIns="0" rtlCol="0" anchor="t"/>
          <a:lstStyle/>
          <a:p>
            <a:pPr indent="0" marL="0">
              <a:buNone/>
            </a:pPr>
            <a:r>
              <a:rPr lang="en-US" sz="2800" b="1" dirty="0">
                <a:solidFill>
                  <a:schemeClr val="accent1"/>
                </a:solidFill>
              </a:rPr>
              <a:t>Questions?</a:t>
            </a:r>
            <a:endParaRPr lang="en-US" sz="2800" dirty="0"/>
          </a:p>
        </p:txBody>
      </p:sp>
      <p:sp>
        <p:nvSpPr>
          <p:cNvPr id="17" name="limits"/>
          <p:cNvSpPr txBox="1"/>
          <p:nvPr/>
        </p:nvSpPr>
        <p:spPr>
          <a:xfrm>
            <a:off x="548640" y="6035040"/>
            <a:ext cx="8229600" cy="365760"/>
          </a:xfrm>
          <a:prstGeom prst="rect">
            <a:avLst/>
          </a:prstGeom>
          <a:noFill/>
          <a:ln/>
        </p:spPr>
        <p:txBody>
          <a:bodyPr wrap="square" lIns="0" tIns="0" rIns="0" bIns="0" rtlCol="0" anchor="t"/>
          <a:lstStyle/>
          <a:p>
            <a:pPr indent="0" marL="0">
              <a:buNone/>
            </a:pPr>
            <a:r>
              <a:rPr lang="en-US" sz="1100" dirty="0">
                <a:solidFill>
                  <a:schemeClr val="tx2"/>
                </a:solidFill>
              </a:rPr>
              <a:t>Tested on MariaDB 10.4 (XAMPP). Demo data, including the 100,000 expense rows, is generated.</a:t>
            </a:r>
            <a:endParaRPr lang="en-US" sz="1100" dirty="0"/>
          </a:p>
        </p:txBody>
      </p:sp>
    </p:spTree>
  </p:cSld>
  <p:clrMapOvr>
    <a:masterClrMapping/>
  </p:clrMapOvr>
</p:sld>
</file>

<file path=ppt/theme/theme1.xml><?xml version="1.0" encoding="utf-8"?>
<a:theme xmlns:a="http://schemas.openxmlformats.org/drawingml/2006/main" name="RSCI Rubric">
  <a:themeElements>
    <a:clrScheme name="RSCI Rubric">
      <a:dk1>
        <a:srgbClr val="F2F2F2"/>
      </a:dk1>
      <a:lt1>
        <a:srgbClr val="242424"/>
      </a:lt1>
      <a:dk2>
        <a:srgbClr val="BFBFBF"/>
      </a:dk2>
      <a:lt2>
        <a:srgbClr val="333333"/>
      </a:lt2>
      <a:accent1>
        <a:srgbClr val="FF8FCD"/>
      </a:accent1>
      <a:accent2>
        <a:srgbClr val="A8006F"/>
      </a:accent2>
      <a:accent3>
        <a:srgbClr val="7FD1A0"/>
      </a:accent3>
      <a:accent4>
        <a:srgbClr val="F2C14E"/>
      </a:accent4>
      <a:accent5>
        <a:srgbClr val="FF7A7A"/>
      </a:accent5>
      <a:accent6>
        <a:srgbClr val="8EA8E8"/>
      </a:accent6>
      <a:hlink>
        <a:srgbClr val="FF8FCD"/>
      </a:hlink>
      <a:folHlink>
        <a:srgbClr val="BFBFBF"/>
      </a:folHlink>
    </a:clrScheme>
    <a:fontScheme name="RSCI Rubri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RSCI Operations System: presentation</dc:title>
  <dc:subject>PptxGenJS Presentation</dc:subject>
  <dc:creator>IT EL 5</dc:creator>
  <cp:lastModifiedBy>IT EL 5</cp:lastModifiedBy>
  <cp:revision>1</cp:revision>
  <dcterms:created xsi:type="dcterms:W3CDTF">2026-10-02T22:16:26Z</dcterms:created>
  <dcterms:modified xsi:type="dcterms:W3CDTF">2026-10-02T22:16:26Z</dcterms:modified>
</cp:coreProperties>
</file>